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30"/>
  </p:notesMasterIdLst>
  <p:handoutMasterIdLst>
    <p:handoutMasterId r:id="rId31"/>
  </p:handout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31C89C-05FF-4A19-A8CB-AC2A5F6B3B7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9E46"/>
    <a:srgbClr val="184B9A"/>
    <a:srgbClr val="65A1D7"/>
    <a:srgbClr val="020C45"/>
    <a:srgbClr val="0195DF"/>
    <a:srgbClr val="CFD8DB"/>
    <a:srgbClr val="F15022"/>
    <a:srgbClr val="01A3EE"/>
    <a:srgbClr val="FFBB0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7" autoAdjust="0"/>
    <p:restoredTop sz="94601" autoAdjust="0"/>
  </p:normalViewPr>
  <p:slideViewPr>
    <p:cSldViewPr snapToGrid="0">
      <p:cViewPr>
        <p:scale>
          <a:sx n="90" d="100"/>
          <a:sy n="90" d="100"/>
        </p:scale>
        <p:origin x="90" y="1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344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Adoption %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61</c:v>
                </c:pt>
                <c:pt idx="2">
                  <c:v>72</c:v>
                </c:pt>
                <c:pt idx="3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FD-404C-B7AA-658F5A7220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14F0F6-EB92-0161-84AB-0ADF8D9125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FF39FB-7148-63E0-F18F-7BC5B115A3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04F56A-B27E-4DAB-A396-B023A441FB94}" type="datetimeFigureOut">
              <a:rPr lang="en-ZA" smtClean="0"/>
              <a:t>2026/07/22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4ED67-959E-9F9F-4F2C-2E56339ACB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B0693-7013-29FF-6AB0-57A20418AE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F0EDDE-4701-4CA5-A965-1BAEEB38DEC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50285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C1E4FD-EF3C-49AF-886A-62D5286CD0D7}" type="datetimeFigureOut">
              <a:rPr lang="en-ZA" smtClean="0"/>
              <a:t>2026/07/22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E5CE6D-5C3C-47E1-ADB7-0BCA1B090A1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41260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13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sv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7" Type="http://schemas.openxmlformats.org/officeDocument/2006/relationships/image" Target="../media/image56.svg"/><Relationship Id="rId2" Type="http://schemas.openxmlformats.org/officeDocument/2006/relationships/image" Target="../media/image5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8.svg"/><Relationship Id="rId4" Type="http://schemas.openxmlformats.org/officeDocument/2006/relationships/image" Target="../media/image56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1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6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4.jpeg"/><Relationship Id="rId4" Type="http://schemas.openxmlformats.org/officeDocument/2006/relationships/image" Target="../media/image58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6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6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0.svg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hoto of Mint Group team members at work">
            <a:extLst>
              <a:ext uri="{FF2B5EF4-FFF2-40B4-BE49-F238E27FC236}">
                <a16:creationId xmlns:a16="http://schemas.microsoft.com/office/drawing/2014/main" id="{0B620D2E-67F0-6D92-0213-B2F447C79D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4" cy="68579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7468B47-7F6F-2469-0413-CEB456090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70" y="2372897"/>
            <a:ext cx="5472289" cy="1805782"/>
          </a:xfrm>
        </p:spPr>
        <p:txBody>
          <a:bodyPr>
            <a:noAutofit/>
          </a:bodyPr>
          <a:lstStyle>
            <a:lvl1pPr>
              <a:defRPr sz="54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 dirty="0"/>
              <a:t>Master title</a:t>
            </a:r>
            <a:endParaRPr lang="en-ZA" dirty="0"/>
          </a:p>
        </p:txBody>
      </p:sp>
      <p:sp>
        <p:nvSpPr>
          <p:cNvPr id="901" name="Subtitle 2">
            <a:extLst>
              <a:ext uri="{FF2B5EF4-FFF2-40B4-BE49-F238E27FC236}">
                <a16:creationId xmlns:a16="http://schemas.microsoft.com/office/drawing/2014/main" id="{F0E11164-B228-3D2C-100B-F28F034DBE0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80470" y="4330681"/>
            <a:ext cx="5200000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400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2400" i="1">
                <a:solidFill>
                  <a:schemeClr val="accent3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354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hoto of Mint Group team members at work">
            <a:extLst>
              <a:ext uri="{FF2B5EF4-FFF2-40B4-BE49-F238E27FC236}">
                <a16:creationId xmlns:a16="http://schemas.microsoft.com/office/drawing/2014/main" id="{0B620D2E-67F0-6D92-0213-B2F447C79D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3" cy="68579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7468B47-7F6F-2469-0413-CEB456090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954" y="2372903"/>
            <a:ext cx="5472289" cy="1805782"/>
          </a:xfrm>
        </p:spPr>
        <p:txBody>
          <a:bodyPr>
            <a:noAutofit/>
          </a:bodyPr>
          <a:lstStyle>
            <a:lvl1pPr>
              <a:defRPr sz="54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 dirty="0"/>
              <a:t>Master title</a:t>
            </a:r>
            <a:endParaRPr lang="en-ZA" dirty="0"/>
          </a:p>
        </p:txBody>
      </p:sp>
      <p:sp>
        <p:nvSpPr>
          <p:cNvPr id="902" name="Subtitle 2">
            <a:extLst>
              <a:ext uri="{FF2B5EF4-FFF2-40B4-BE49-F238E27FC236}">
                <a16:creationId xmlns:a16="http://schemas.microsoft.com/office/drawing/2014/main" id="{F0E11164-B228-3D2C-100B-F28F034DBE0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65954" y="4301658"/>
            <a:ext cx="5200000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400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2400" i="1">
                <a:solidFill>
                  <a:schemeClr val="accent3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5642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hoto of Mint Group team members at work">
            <a:extLst>
              <a:ext uri="{FF2B5EF4-FFF2-40B4-BE49-F238E27FC236}">
                <a16:creationId xmlns:a16="http://schemas.microsoft.com/office/drawing/2014/main" id="{0B620D2E-67F0-6D92-0213-B2F447C79D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3" cy="68579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7468B47-7F6F-2469-0413-CEB456090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083" y="2329359"/>
            <a:ext cx="5472289" cy="1805782"/>
          </a:xfrm>
        </p:spPr>
        <p:txBody>
          <a:bodyPr>
            <a:noAutofit/>
          </a:bodyPr>
          <a:lstStyle>
            <a:lvl1pPr>
              <a:defRPr sz="54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 dirty="0"/>
              <a:t>Master title</a:t>
            </a:r>
            <a:endParaRPr lang="en-ZA" dirty="0"/>
          </a:p>
        </p:txBody>
      </p:sp>
      <p:sp>
        <p:nvSpPr>
          <p:cNvPr id="905" name="Subtitle 2">
            <a:extLst>
              <a:ext uri="{FF2B5EF4-FFF2-40B4-BE49-F238E27FC236}">
                <a16:creationId xmlns:a16="http://schemas.microsoft.com/office/drawing/2014/main" id="{F0E11164-B228-3D2C-100B-F28F034DBE0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083" y="4287143"/>
            <a:ext cx="5200000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400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2400" i="1">
                <a:solidFill>
                  <a:schemeClr val="accent3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19828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Photo of Mint Group team members at work">
            <a:extLst>
              <a:ext uri="{FF2B5EF4-FFF2-40B4-BE49-F238E27FC236}">
                <a16:creationId xmlns:a16="http://schemas.microsoft.com/office/drawing/2014/main" id="{EF65C143-BFE9-349B-61EC-1213D1A893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4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873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Mint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Photo of Mint Group team members at work">
            <a:extLst>
              <a:ext uri="{FF2B5EF4-FFF2-40B4-BE49-F238E27FC236}">
                <a16:creationId xmlns:a16="http://schemas.microsoft.com/office/drawing/2014/main" id="{2B078827-E4C7-CE30-EDF4-A654076D9B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3" y="0"/>
            <a:ext cx="12190811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0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Designations Bad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Photo of Mint Group team members at work">
            <a:extLst>
              <a:ext uri="{FF2B5EF4-FFF2-40B4-BE49-F238E27FC236}">
                <a16:creationId xmlns:a16="http://schemas.microsoft.com/office/drawing/2014/main" id="{8D9794C9-B4B8-F7FE-53BF-FF5A0D55B1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4" cy="6857999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5E09A5B-885E-CBBD-3F94-B74BF05630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140" y="1387041"/>
            <a:ext cx="2969721" cy="156031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F97A8EE-249C-07A2-EC3F-19DFBC20B7D6}"/>
              </a:ext>
            </a:extLst>
          </p:cNvPr>
          <p:cNvGrpSpPr/>
          <p:nvPr userDrawn="1"/>
        </p:nvGrpSpPr>
        <p:grpSpPr>
          <a:xfrm>
            <a:off x="241162" y="3117122"/>
            <a:ext cx="11709673" cy="2684342"/>
            <a:chOff x="1187407" y="3097026"/>
            <a:chExt cx="9301705" cy="2132336"/>
          </a:xfrm>
        </p:grpSpPr>
        <p:pic>
          <p:nvPicPr>
            <p:cNvPr id="12" name="Picture 11" descr="A close-up of a business card&#10;&#10;AI-generated content may be incorrect.">
              <a:extLst>
                <a:ext uri="{FF2B5EF4-FFF2-40B4-BE49-F238E27FC236}">
                  <a16:creationId xmlns:a16="http://schemas.microsoft.com/office/drawing/2014/main" id="{7B635C18-4C31-0050-D156-A000A0D9736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31532" y="3097026"/>
              <a:ext cx="1384357" cy="1490540"/>
            </a:xfrm>
            <a:prstGeom prst="rect">
              <a:avLst/>
            </a:prstGeom>
          </p:spPr>
        </p:pic>
        <p:pic>
          <p:nvPicPr>
            <p:cNvPr id="14" name="Picture 13" descr="A close-up of a business card&#10;&#10;AI-generated content may be incorrect.">
              <a:extLst>
                <a:ext uri="{FF2B5EF4-FFF2-40B4-BE49-F238E27FC236}">
                  <a16:creationId xmlns:a16="http://schemas.microsoft.com/office/drawing/2014/main" id="{FE4E7A92-562E-21F1-B75D-6F9314834D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04754" y="3097026"/>
              <a:ext cx="1384358" cy="1390994"/>
            </a:xfrm>
            <a:prstGeom prst="rect">
              <a:avLst/>
            </a:prstGeom>
          </p:spPr>
        </p:pic>
        <p:pic>
          <p:nvPicPr>
            <p:cNvPr id="3" name="Picture 2" descr="A close-up of a business card&#10;&#10;AI-generated content may be incorrect.">
              <a:extLst>
                <a:ext uri="{FF2B5EF4-FFF2-40B4-BE49-F238E27FC236}">
                  <a16:creationId xmlns:a16="http://schemas.microsoft.com/office/drawing/2014/main" id="{2A5371B2-434F-CEA1-F0D4-F610641E870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8092" y="3097026"/>
              <a:ext cx="1547716" cy="1644170"/>
            </a:xfrm>
            <a:prstGeom prst="rect">
              <a:avLst/>
            </a:prstGeom>
          </p:spPr>
        </p:pic>
        <p:pic>
          <p:nvPicPr>
            <p:cNvPr id="5" name="Picture 4" descr="A close-up of a phone&#10;&#10;AI-generated content may be incorrect.">
              <a:extLst>
                <a:ext uri="{FF2B5EF4-FFF2-40B4-BE49-F238E27FC236}">
                  <a16:creationId xmlns:a16="http://schemas.microsoft.com/office/drawing/2014/main" id="{67B99065-2775-B09A-B8CF-82475B96A7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3103" y="3097026"/>
              <a:ext cx="1579564" cy="2132336"/>
            </a:xfrm>
            <a:prstGeom prst="rect">
              <a:avLst/>
            </a:prstGeom>
          </p:spPr>
        </p:pic>
        <p:pic>
          <p:nvPicPr>
            <p:cNvPr id="9" name="Picture 8" descr="A close-up of a card&#10;&#10;AI-generated content may be incorrect.">
              <a:extLst>
                <a:ext uri="{FF2B5EF4-FFF2-40B4-BE49-F238E27FC236}">
                  <a16:creationId xmlns:a16="http://schemas.microsoft.com/office/drawing/2014/main" id="{71FF1FC8-9B93-C17E-7E5C-C1C7C4B3BDC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4673" y="3097026"/>
              <a:ext cx="1579565" cy="1791588"/>
            </a:xfrm>
            <a:prstGeom prst="rect">
              <a:avLst/>
            </a:prstGeom>
          </p:spPr>
        </p:pic>
        <p:pic>
          <p:nvPicPr>
            <p:cNvPr id="16" name="Picture 15" descr="A white rectangular sign with text&#10;&#10;Description automatically generated">
              <a:extLst>
                <a:ext uri="{FF2B5EF4-FFF2-40B4-BE49-F238E27FC236}">
                  <a16:creationId xmlns:a16="http://schemas.microsoft.com/office/drawing/2014/main" id="{FE5DB685-0751-B2F3-0469-104898E21F5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87407" y="3097026"/>
              <a:ext cx="1381820" cy="8452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4830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ud 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Photo of Mint Group team members at work">
            <a:extLst>
              <a:ext uri="{FF2B5EF4-FFF2-40B4-BE49-F238E27FC236}">
                <a16:creationId xmlns:a16="http://schemas.microsoft.com/office/drawing/2014/main" id="{94DF5AAC-6106-EDC6-D7BD-C799F0FF21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3" y="0"/>
            <a:ext cx="12190811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290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ustry Expert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76A402-0825-4BC5-83F8-3C9DC145D0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28" y="0"/>
            <a:ext cx="12188172" cy="68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855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dustry Expe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hoto of Mint Group team members at work">
            <a:extLst>
              <a:ext uri="{FF2B5EF4-FFF2-40B4-BE49-F238E27FC236}">
                <a16:creationId xmlns:a16="http://schemas.microsoft.com/office/drawing/2014/main" id="{241B883B-ECAB-CAA0-B87B-CC9F6FAEA3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3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8068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pact 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hoto of Mint Group team members at work">
            <a:extLst>
              <a:ext uri="{FF2B5EF4-FFF2-40B4-BE49-F238E27FC236}">
                <a16:creationId xmlns:a16="http://schemas.microsoft.com/office/drawing/2014/main" id="{98CD1F33-C85C-8C88-EF7C-A355156CCC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" y="105"/>
            <a:ext cx="12190441" cy="685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8845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wards &amp; Accola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square with white text&#10;&#10;AI-generated content may be incorrect.">
            <a:extLst>
              <a:ext uri="{FF2B5EF4-FFF2-40B4-BE49-F238E27FC236}">
                <a16:creationId xmlns:a16="http://schemas.microsoft.com/office/drawing/2014/main" id="{351D6E93-6DFC-9DE5-A916-A01203012A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" y="0"/>
            <a:ext cx="12190815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EA4A0A3-2B00-FDFB-0DAC-6563FFB85E0F}"/>
              </a:ext>
            </a:extLst>
          </p:cNvPr>
          <p:cNvSpPr txBox="1">
            <a:spLocks/>
          </p:cNvSpPr>
          <p:nvPr userDrawn="1"/>
        </p:nvSpPr>
        <p:spPr>
          <a:xfrm>
            <a:off x="2380072" y="581035"/>
            <a:ext cx="7541878" cy="8148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5400" dirty="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Awards &amp; Accolades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AE35276-2C24-DD25-563C-5887A4A94D85}"/>
              </a:ext>
            </a:extLst>
          </p:cNvPr>
          <p:cNvGrpSpPr/>
          <p:nvPr userDrawn="1"/>
        </p:nvGrpSpPr>
        <p:grpSpPr>
          <a:xfrm>
            <a:off x="9784147" y="1885513"/>
            <a:ext cx="2122869" cy="1939016"/>
            <a:chOff x="-11722" y="3892173"/>
            <a:chExt cx="2122869" cy="193901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EFC162-2EC2-3EAE-FC96-77A57F1AC314}"/>
                </a:ext>
              </a:extLst>
            </p:cNvPr>
            <p:cNvSpPr txBox="1"/>
            <p:nvPr/>
          </p:nvSpPr>
          <p:spPr>
            <a:xfrm>
              <a:off x="-11722" y="4888461"/>
              <a:ext cx="2122869" cy="6730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spc="0" dirty="0">
                  <a:solidFill>
                    <a:schemeClr val="accent4"/>
                  </a:solidFill>
                  <a:latin typeface="+mj-lt"/>
                  <a:ea typeface="Titillium" charset="0"/>
                  <a:cs typeface="Titillium" charset="0"/>
                </a:rPr>
                <a:t>MICROSOFT BUSINESS APPLICATIONS</a:t>
              </a:r>
            </a:p>
            <a:p>
              <a:pPr algn="ctr">
                <a:lnSpc>
                  <a:spcPts val="1800"/>
                </a:lnSpc>
              </a:pPr>
              <a:endParaRPr lang="en-US" sz="1400" b="1" spc="0" dirty="0">
                <a:solidFill>
                  <a:schemeClr val="tx1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40C385C-B726-A2AD-008B-6AE76CB4A1C9}"/>
                </a:ext>
              </a:extLst>
            </p:cNvPr>
            <p:cNvSpPr txBox="1"/>
            <p:nvPr/>
          </p:nvSpPr>
          <p:spPr>
            <a:xfrm>
              <a:off x="74584" y="5439350"/>
              <a:ext cx="1950256" cy="391839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Inner Circle Award</a:t>
              </a:r>
            </a:p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2025/26</a:t>
              </a:r>
            </a:p>
          </p:txBody>
        </p:sp>
        <p:pic>
          <p:nvPicPr>
            <p:cNvPr id="47" name="Picture 46" descr="A logo with a number and a spiral&#10;&#10;AI-generated content may be incorrect.">
              <a:extLst>
                <a:ext uri="{FF2B5EF4-FFF2-40B4-BE49-F238E27FC236}">
                  <a16:creationId xmlns:a16="http://schemas.microsoft.com/office/drawing/2014/main" id="{070B80B4-0C5B-ABD9-B401-B5965E6F30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928" y="3892173"/>
              <a:ext cx="797569" cy="931991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72960AF-619B-BBB6-4FEA-A26070FAF36C}"/>
              </a:ext>
            </a:extLst>
          </p:cNvPr>
          <p:cNvGrpSpPr/>
          <p:nvPr userDrawn="1"/>
        </p:nvGrpSpPr>
        <p:grpSpPr>
          <a:xfrm>
            <a:off x="7336843" y="1883339"/>
            <a:ext cx="2317036" cy="1941190"/>
            <a:chOff x="2581136" y="1443301"/>
            <a:chExt cx="2317036" cy="19411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212DE91-5A35-EB89-309B-209B306EFC24}"/>
                </a:ext>
              </a:extLst>
            </p:cNvPr>
            <p:cNvSpPr txBox="1"/>
            <p:nvPr userDrawn="1"/>
          </p:nvSpPr>
          <p:spPr>
            <a:xfrm>
              <a:off x="2581136" y="2444457"/>
              <a:ext cx="2317036" cy="4367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IAMCP PARTNER-TO-PARTNER (P2P) EXCELLENCE AWARD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234D560-B3E9-D38A-86D3-FA391F660125}"/>
                </a:ext>
              </a:extLst>
            </p:cNvPr>
            <p:cNvSpPr txBox="1"/>
            <p:nvPr userDrawn="1"/>
          </p:nvSpPr>
          <p:spPr>
            <a:xfrm>
              <a:off x="2741812" y="2995346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2026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7" name="Picture 6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5613CD12-ECAE-0FEA-7BF5-7E5464F61F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8" t="2678" r="-108" b="21217"/>
            <a:stretch>
              <a:fillRect/>
            </a:stretch>
          </p:blipFill>
          <p:spPr>
            <a:xfrm>
              <a:off x="2685827" y="1443301"/>
              <a:ext cx="2107654" cy="86938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77423E0-3201-C43C-6903-B4CA0CB744BE}"/>
              </a:ext>
            </a:extLst>
          </p:cNvPr>
          <p:cNvGrpSpPr/>
          <p:nvPr userDrawn="1"/>
        </p:nvGrpSpPr>
        <p:grpSpPr>
          <a:xfrm>
            <a:off x="5018605" y="1872800"/>
            <a:ext cx="2107654" cy="1920874"/>
            <a:chOff x="7499981" y="1463617"/>
            <a:chExt cx="2107654" cy="192087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00D824E-991C-62CA-59CA-20CA3C8DD07D}"/>
                </a:ext>
              </a:extLst>
            </p:cNvPr>
            <p:cNvSpPr txBox="1"/>
            <p:nvPr userDrawn="1"/>
          </p:nvSpPr>
          <p:spPr>
            <a:xfrm>
              <a:off x="7555966" y="2444457"/>
              <a:ext cx="1995684" cy="4367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IAMCP INDUSTRY PARTNER: RETAIL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05FDE8-E396-2891-AA2C-166FEFF1808D}"/>
                </a:ext>
              </a:extLst>
            </p:cNvPr>
            <p:cNvSpPr txBox="1"/>
            <p:nvPr userDrawn="1"/>
          </p:nvSpPr>
          <p:spPr>
            <a:xfrm>
              <a:off x="7555966" y="2995346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2026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16" name="Picture 15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B5451172-28DF-9444-AF32-FFBFFB30935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8" t="2678" r="-108" b="21217"/>
            <a:stretch>
              <a:fillRect/>
            </a:stretch>
          </p:blipFill>
          <p:spPr>
            <a:xfrm>
              <a:off x="7499981" y="1463617"/>
              <a:ext cx="2107654" cy="86938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9F97350-1876-DE92-1CAE-A6F3677DF12F}"/>
              </a:ext>
            </a:extLst>
          </p:cNvPr>
          <p:cNvGrpSpPr/>
          <p:nvPr userDrawn="1"/>
        </p:nvGrpSpPr>
        <p:grpSpPr>
          <a:xfrm>
            <a:off x="2460883" y="1841923"/>
            <a:ext cx="2122869" cy="1946417"/>
            <a:chOff x="5217381" y="1438074"/>
            <a:chExt cx="2122869" cy="19464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137CCDD-DD18-156C-B7FD-2872EE102BD5}"/>
                </a:ext>
              </a:extLst>
            </p:cNvPr>
            <p:cNvSpPr txBox="1"/>
            <p:nvPr userDrawn="1"/>
          </p:nvSpPr>
          <p:spPr>
            <a:xfrm>
              <a:off x="5217381" y="2444457"/>
              <a:ext cx="2122869" cy="44217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IAMCP INDUSTRY PARTNER: MINING &amp; MANUFACTURING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82377-A1E0-B23C-4D5B-E2220B5D1014}"/>
                </a:ext>
              </a:extLst>
            </p:cNvPr>
            <p:cNvSpPr txBox="1"/>
            <p:nvPr userDrawn="1"/>
          </p:nvSpPr>
          <p:spPr>
            <a:xfrm>
              <a:off x="5280973" y="2995346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2026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22" name="Picture 21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24AC8EAD-18B9-7E4F-DCCF-EF78696B4E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8" t="2678" r="-108" b="21217"/>
            <a:stretch>
              <a:fillRect/>
            </a:stretch>
          </p:blipFill>
          <p:spPr>
            <a:xfrm>
              <a:off x="5224988" y="1438074"/>
              <a:ext cx="2107654" cy="869380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AA3A0A4-7182-888F-3C7E-1F78F977DADB}"/>
              </a:ext>
            </a:extLst>
          </p:cNvPr>
          <p:cNvGrpSpPr/>
          <p:nvPr userDrawn="1"/>
        </p:nvGrpSpPr>
        <p:grpSpPr>
          <a:xfrm>
            <a:off x="2363644" y="4090070"/>
            <a:ext cx="2122869" cy="1939016"/>
            <a:chOff x="7402894" y="3892173"/>
            <a:chExt cx="2122869" cy="1939016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0909F34-53B4-6DE0-AECD-7C25952B04AE}"/>
                </a:ext>
              </a:extLst>
            </p:cNvPr>
            <p:cNvSpPr txBox="1"/>
            <p:nvPr userDrawn="1"/>
          </p:nvSpPr>
          <p:spPr>
            <a:xfrm>
              <a:off x="7402894" y="4891155"/>
              <a:ext cx="2122869" cy="4367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ZA" sz="1200" b="1" dirty="0">
                  <a:solidFill>
                    <a:schemeClr val="accent4"/>
                  </a:solidFill>
                </a:rPr>
                <a:t>MICROSOFT 2025 PARTNER </a:t>
              </a:r>
            </a:p>
            <a:p>
              <a:pPr algn="ctr">
                <a:lnSpc>
                  <a:spcPts val="1800"/>
                </a:lnSpc>
              </a:pPr>
              <a:r>
                <a:rPr lang="en-ZA" sz="1200" b="1" dirty="0">
                  <a:solidFill>
                    <a:schemeClr val="accent4"/>
                  </a:solidFill>
                </a:rPr>
                <a:t>OF THE YEAR WINNER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2E86790-9FC7-576E-44A8-23383B8E2ECE}"/>
                </a:ext>
              </a:extLst>
            </p:cNvPr>
            <p:cNvSpPr txBox="1"/>
            <p:nvPr userDrawn="1"/>
          </p:nvSpPr>
          <p:spPr>
            <a:xfrm>
              <a:off x="7466486" y="5442044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2025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58" name="Picture 57" descr="A blue and white rectangular object with text&#10;&#10;AI-generated content may be incorrect.">
              <a:extLst>
                <a:ext uri="{FF2B5EF4-FFF2-40B4-BE49-F238E27FC236}">
                  <a16:creationId xmlns:a16="http://schemas.microsoft.com/office/drawing/2014/main" id="{54D3DD8D-3E80-39D5-F8C1-C607348E453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71737" y="3892173"/>
              <a:ext cx="1585182" cy="937419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78A71B8-85FC-CA32-7CDA-BDD1B8F47D73}"/>
              </a:ext>
            </a:extLst>
          </p:cNvPr>
          <p:cNvGrpSpPr/>
          <p:nvPr userDrawn="1"/>
        </p:nvGrpSpPr>
        <p:grpSpPr>
          <a:xfrm>
            <a:off x="4499243" y="4085611"/>
            <a:ext cx="2329720" cy="2181062"/>
            <a:chOff x="9673385" y="3892173"/>
            <a:chExt cx="2329720" cy="218106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42E1028-2598-BA5A-4597-C2AC4E19031B}"/>
                </a:ext>
              </a:extLst>
            </p:cNvPr>
            <p:cNvSpPr txBox="1"/>
            <p:nvPr userDrawn="1"/>
          </p:nvSpPr>
          <p:spPr>
            <a:xfrm>
              <a:off x="9880446" y="5684090"/>
              <a:ext cx="1915597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2025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EE21387D-20FB-2710-C646-8968BF1014FA}"/>
                </a:ext>
              </a:extLst>
            </p:cNvPr>
            <p:cNvGrpSpPr/>
            <p:nvPr userDrawn="1"/>
          </p:nvGrpSpPr>
          <p:grpSpPr>
            <a:xfrm>
              <a:off x="9673385" y="3892173"/>
              <a:ext cx="2329720" cy="1435705"/>
              <a:chOff x="9673385" y="3892173"/>
              <a:chExt cx="2329720" cy="1435705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0B1584A-3313-6C9A-17BE-A1AD2350D5CF}"/>
                  </a:ext>
                </a:extLst>
              </p:cNvPr>
              <p:cNvSpPr txBox="1"/>
              <p:nvPr userDrawn="1"/>
            </p:nvSpPr>
            <p:spPr>
              <a:xfrm>
                <a:off x="9673385" y="4891155"/>
                <a:ext cx="2329720" cy="43672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lnSpc>
                    <a:spcPts val="1800"/>
                  </a:lnSpc>
                </a:pPr>
                <a:r>
                  <a:rPr lang="en-ZA" sz="1200" b="1" dirty="0">
                    <a:solidFill>
                      <a:schemeClr val="accent4"/>
                    </a:solidFill>
                  </a:rPr>
                  <a:t>MICROSOFT 2025 FINALIST COMMUNITY RESPONSE AWARD</a:t>
                </a:r>
                <a:endParaRPr lang="en-US" sz="1200" b="1" kern="1200" spc="0" dirty="0">
                  <a:solidFill>
                    <a:schemeClr val="accent4"/>
                  </a:solidFill>
                  <a:latin typeface="+mn-lt"/>
                  <a:ea typeface="Titillium" charset="0"/>
                  <a:cs typeface="Titillium" charset="0"/>
                </a:endParaRPr>
              </a:p>
            </p:txBody>
          </p:sp>
          <p:pic>
            <p:nvPicPr>
              <p:cNvPr id="60" name="Picture 59" descr="A close-up of a blue and white rectangular object&#10;&#10;AI-generated content may be incorrect.">
                <a:extLst>
                  <a:ext uri="{FF2B5EF4-FFF2-40B4-BE49-F238E27FC236}">
                    <a16:creationId xmlns:a16="http://schemas.microsoft.com/office/drawing/2014/main" id="{BD37E621-7F47-A2D7-CB47-B734483BC2D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45654" y="3892173"/>
                <a:ext cx="1585182" cy="937419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8E2716F-2A4C-8C4D-38AB-970010FDF28D}"/>
              </a:ext>
            </a:extLst>
          </p:cNvPr>
          <p:cNvGrpSpPr/>
          <p:nvPr userDrawn="1"/>
        </p:nvGrpSpPr>
        <p:grpSpPr>
          <a:xfrm>
            <a:off x="9467074" y="4405692"/>
            <a:ext cx="2453762" cy="1618935"/>
            <a:chOff x="4748108" y="4212254"/>
            <a:chExt cx="2453762" cy="161893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BC0B3F-8278-BD06-6BC1-BF1C178A0815}"/>
                </a:ext>
              </a:extLst>
            </p:cNvPr>
            <p:cNvSpPr txBox="1"/>
            <p:nvPr userDrawn="1"/>
          </p:nvSpPr>
          <p:spPr>
            <a:xfrm>
              <a:off x="4913555" y="4891155"/>
              <a:ext cx="2122869" cy="44217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ZA" sz="1200" b="1" dirty="0">
                  <a:solidFill>
                    <a:schemeClr val="accent4"/>
                  </a:solidFill>
                </a:rPr>
                <a:t>ACKERMANS OPERATIONAL EXCELLENCE AWARD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6CC7CD-70B7-8BD6-78E3-38FD6580F24B}"/>
                </a:ext>
              </a:extLst>
            </p:cNvPr>
            <p:cNvSpPr txBox="1"/>
            <p:nvPr userDrawn="1"/>
          </p:nvSpPr>
          <p:spPr>
            <a:xfrm>
              <a:off x="4977147" y="5442044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2025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41" name="Graphic 40" descr="Photo of Mint Group team members at work">
              <a:extLst>
                <a:ext uri="{FF2B5EF4-FFF2-40B4-BE49-F238E27FC236}">
                  <a16:creationId xmlns:a16="http://schemas.microsoft.com/office/drawing/2014/main" id="{F95C9DCF-5A28-6E2E-A96F-59CBE9873B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48108" y="4212254"/>
              <a:ext cx="2453762" cy="297256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9D5F920-523A-3EA9-06BA-57BBDCE41BA9}"/>
              </a:ext>
            </a:extLst>
          </p:cNvPr>
          <p:cNvGrpSpPr/>
          <p:nvPr userDrawn="1"/>
        </p:nvGrpSpPr>
        <p:grpSpPr>
          <a:xfrm>
            <a:off x="6786006" y="4225998"/>
            <a:ext cx="2579555" cy="2040675"/>
            <a:chOff x="2122869" y="4032560"/>
            <a:chExt cx="2579555" cy="204067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7F49F43-F7A0-CDBA-DB86-46E481CDF17A}"/>
                </a:ext>
              </a:extLst>
            </p:cNvPr>
            <p:cNvSpPr txBox="1"/>
            <p:nvPr userDrawn="1"/>
          </p:nvSpPr>
          <p:spPr>
            <a:xfrm>
              <a:off x="2122869" y="4891155"/>
              <a:ext cx="2579555" cy="6675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EDEAF PIONEER PARTNER AWARD FOR DECADE-LONG COMMITMENT TO DEAF LEARNERS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17179F6-CD66-3354-74E3-B2D51362CC8A}"/>
                </a:ext>
              </a:extLst>
            </p:cNvPr>
            <p:cNvSpPr txBox="1"/>
            <p:nvPr userDrawn="1"/>
          </p:nvSpPr>
          <p:spPr>
            <a:xfrm>
              <a:off x="2414804" y="5684090"/>
              <a:ext cx="1995684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2025</a:t>
              </a:r>
            </a:p>
            <a:p>
              <a:pPr algn="ctr">
                <a:lnSpc>
                  <a:spcPts val="1600"/>
                </a:lnSpc>
              </a:pPr>
              <a:endParaRPr lang="en-US" sz="1100" i="1" dirty="0">
                <a:solidFill>
                  <a:schemeClr val="bg1"/>
                </a:solidFill>
                <a:latin typeface="+mn-lt"/>
                <a:ea typeface="Titillium" charset="0"/>
                <a:cs typeface="Titillium" charset="0"/>
              </a:endParaRPr>
            </a:p>
          </p:txBody>
        </p:sp>
        <p:pic>
          <p:nvPicPr>
            <p:cNvPr id="54" name="Picture 53" descr="The image depicts a serene landscape with a clear blue sky, a few scattered clouds, and a small, peaceful pond reflecting the sky.&#10;&#10;AI-generated content may be incorrect.">
              <a:extLst>
                <a:ext uri="{FF2B5EF4-FFF2-40B4-BE49-F238E27FC236}">
                  <a16:creationId xmlns:a16="http://schemas.microsoft.com/office/drawing/2014/main" id="{5109E7BC-4B0E-025A-021C-B4599EE4EE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81011" y="4032560"/>
              <a:ext cx="1863269" cy="656644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50E20CE-40E8-2E31-9140-3EA36BAB7D7E}"/>
              </a:ext>
            </a:extLst>
          </p:cNvPr>
          <p:cNvGrpSpPr/>
          <p:nvPr userDrawn="1"/>
        </p:nvGrpSpPr>
        <p:grpSpPr>
          <a:xfrm>
            <a:off x="188785" y="4120048"/>
            <a:ext cx="2247267" cy="1729764"/>
            <a:chOff x="9799361" y="1883517"/>
            <a:chExt cx="2247267" cy="172976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33E7367-A776-7767-3A04-8548DDC6C82C}"/>
                </a:ext>
              </a:extLst>
            </p:cNvPr>
            <p:cNvSpPr txBox="1"/>
            <p:nvPr userDrawn="1"/>
          </p:nvSpPr>
          <p:spPr>
            <a:xfrm>
              <a:off x="9799361" y="2857957"/>
              <a:ext cx="2247267" cy="4367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IAMCP </a:t>
              </a:r>
            </a:p>
            <a:p>
              <a:pPr algn="ctr">
                <a:lnSpc>
                  <a:spcPts val="1800"/>
                </a:lnSpc>
              </a:pPr>
              <a:r>
                <a:rPr lang="en-US" sz="1200" b="1" dirty="0">
                  <a:solidFill>
                    <a:schemeClr val="accent4"/>
                  </a:solidFill>
                </a:rPr>
                <a:t>EMEA LIFT AWARD</a:t>
              </a:r>
              <a:endParaRPr lang="en-US" sz="1200" b="1" spc="0" dirty="0">
                <a:solidFill>
                  <a:schemeClr val="accent4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C14D96D-BD5E-5B81-8749-045D3051943C}"/>
                </a:ext>
              </a:extLst>
            </p:cNvPr>
            <p:cNvSpPr txBox="1"/>
            <p:nvPr userDrawn="1"/>
          </p:nvSpPr>
          <p:spPr>
            <a:xfrm>
              <a:off x="9948012" y="3429320"/>
              <a:ext cx="1995684" cy="183961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100" i="1" dirty="0">
                  <a:solidFill>
                    <a:schemeClr val="bg1"/>
                  </a:solidFill>
                  <a:latin typeface="+mn-lt"/>
                  <a:ea typeface="Titillium" charset="0"/>
                  <a:cs typeface="Titillium" charset="0"/>
                </a:rPr>
                <a:t>Award 2025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DAD759E-EC3B-A872-4A4D-0226A460AD59}"/>
                </a:ext>
              </a:extLst>
            </p:cNvPr>
            <p:cNvSpPr/>
            <p:nvPr userDrawn="1"/>
          </p:nvSpPr>
          <p:spPr>
            <a:xfrm>
              <a:off x="9933505" y="2080393"/>
              <a:ext cx="1904257" cy="695029"/>
            </a:xfrm>
            <a:prstGeom prst="roundRect">
              <a:avLst>
                <a:gd name="adj" fmla="val 22043"/>
              </a:avLst>
            </a:prstGeom>
            <a:solidFill>
              <a:srgbClr val="FFFFFF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AB77AAA-A3DC-1451-545A-7C42AD37FFFF}"/>
                </a:ext>
              </a:extLst>
            </p:cNvPr>
            <p:cNvSpPr txBox="1"/>
            <p:nvPr userDrawn="1"/>
          </p:nvSpPr>
          <p:spPr>
            <a:xfrm>
              <a:off x="10024224" y="2534734"/>
              <a:ext cx="797569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900" b="1" i="0" dirty="0">
                  <a:solidFill>
                    <a:srgbClr val="020C45"/>
                  </a:solidFill>
                  <a:latin typeface="+mj-lt"/>
                  <a:ea typeface="Titillium" charset="0"/>
                  <a:cs typeface="Titillium" charset="0"/>
                </a:rPr>
                <a:t>Mint Group</a:t>
              </a:r>
            </a:p>
            <a:p>
              <a:pPr algn="ctr">
                <a:lnSpc>
                  <a:spcPts val="1600"/>
                </a:lnSpc>
              </a:pPr>
              <a:endParaRPr lang="en-US" sz="900" b="1" i="0" dirty="0">
                <a:solidFill>
                  <a:srgbClr val="020C45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D227B6-430E-AED7-B4D3-264F02EF7AD2}"/>
                </a:ext>
              </a:extLst>
            </p:cNvPr>
            <p:cNvSpPr txBox="1"/>
            <p:nvPr userDrawn="1"/>
          </p:nvSpPr>
          <p:spPr>
            <a:xfrm>
              <a:off x="10679195" y="2539053"/>
              <a:ext cx="797569" cy="389145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900" b="1" i="0" dirty="0">
                  <a:solidFill>
                    <a:srgbClr val="FFBB07"/>
                  </a:solidFill>
                  <a:latin typeface="+mj-lt"/>
                  <a:ea typeface="Titillium" charset="0"/>
                  <a:cs typeface="Titillium" charset="0"/>
                </a:rPr>
                <a:t>WINNER</a:t>
              </a:r>
            </a:p>
            <a:p>
              <a:pPr algn="ctr">
                <a:lnSpc>
                  <a:spcPts val="1600"/>
                </a:lnSpc>
              </a:pPr>
              <a:endParaRPr lang="en-US" sz="900" b="1" i="0" dirty="0">
                <a:solidFill>
                  <a:srgbClr val="FFBB07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3F74D37-0EE4-C950-F891-A0639638FBCF}"/>
                </a:ext>
              </a:extLst>
            </p:cNvPr>
            <p:cNvSpPr txBox="1"/>
            <p:nvPr userDrawn="1"/>
          </p:nvSpPr>
          <p:spPr>
            <a:xfrm>
              <a:off x="11307406" y="2534123"/>
              <a:ext cx="499366" cy="383631"/>
            </a:xfrm>
            <a:prstGeom prst="rect">
              <a:avLst/>
            </a:prstGeom>
            <a:noFill/>
          </p:spPr>
          <p:txBody>
            <a:bodyPr wrap="square" lIns="0" tIns="0" rIns="91440" bIns="0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800" b="1" i="0" dirty="0">
                  <a:solidFill>
                    <a:srgbClr val="020C45"/>
                  </a:solidFill>
                  <a:latin typeface="+mj-lt"/>
                  <a:ea typeface="Titillium" charset="0"/>
                  <a:cs typeface="Titillium" charset="0"/>
                </a:rPr>
                <a:t>EMEA</a:t>
              </a:r>
            </a:p>
            <a:p>
              <a:pPr algn="ctr">
                <a:lnSpc>
                  <a:spcPts val="1600"/>
                </a:lnSpc>
              </a:pPr>
              <a:endParaRPr lang="en-US" sz="800" b="1" i="0" dirty="0">
                <a:solidFill>
                  <a:srgbClr val="020C45"/>
                </a:solidFill>
                <a:latin typeface="+mj-lt"/>
                <a:ea typeface="Titillium" charset="0"/>
                <a:cs typeface="Titillium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8F8D2B4-C151-7CCC-8FE2-18DF698000C8}"/>
                </a:ext>
              </a:extLst>
            </p:cNvPr>
            <p:cNvSpPr/>
            <p:nvPr userDrawn="1"/>
          </p:nvSpPr>
          <p:spPr>
            <a:xfrm flipH="1">
              <a:off x="10721267" y="2626553"/>
              <a:ext cx="45719" cy="45719"/>
            </a:xfrm>
            <a:prstGeom prst="ellipse">
              <a:avLst/>
            </a:prstGeom>
            <a:solidFill>
              <a:srgbClr val="0195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8729118-D0C9-31EA-7BC1-EC0B068A34CC}"/>
                </a:ext>
              </a:extLst>
            </p:cNvPr>
            <p:cNvSpPr/>
            <p:nvPr userDrawn="1"/>
          </p:nvSpPr>
          <p:spPr>
            <a:xfrm flipH="1">
              <a:off x="11291975" y="2626553"/>
              <a:ext cx="45719" cy="45719"/>
            </a:xfrm>
            <a:prstGeom prst="ellipse">
              <a:avLst/>
            </a:prstGeom>
            <a:solidFill>
              <a:srgbClr val="0195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pic>
          <p:nvPicPr>
            <p:cNvPr id="30" name="Graphic 29" descr="Photo of Mint Group team members at work">
              <a:extLst>
                <a:ext uri="{FF2B5EF4-FFF2-40B4-BE49-F238E27FC236}">
                  <a16:creationId xmlns:a16="http://schemas.microsoft.com/office/drawing/2014/main" id="{3585A286-FA79-0EB7-69A7-87DAC6E3B2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933505" y="1883517"/>
              <a:ext cx="1904257" cy="646241"/>
            </a:xfrm>
            <a:prstGeom prst="rect">
              <a:avLst/>
            </a:prstGeom>
          </p:spPr>
        </p:pic>
        <p:pic>
          <p:nvPicPr>
            <p:cNvPr id="17" name="Picture 16" descr="The image showcases the 2025 IAMCP LIFT Awards logo, symbolizing recognition for leadership that inspires future talent.&#10;&#10;AI-generated content may be incorrect.">
              <a:extLst>
                <a:ext uri="{FF2B5EF4-FFF2-40B4-BE49-F238E27FC236}">
                  <a16:creationId xmlns:a16="http://schemas.microsoft.com/office/drawing/2014/main" id="{759B2BAD-28A8-CCB5-7AF0-50132CE1F9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33505" y="1886458"/>
              <a:ext cx="1904257" cy="648521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766BE51-75D7-B290-6D02-1027014C3B48}"/>
              </a:ext>
            </a:extLst>
          </p:cNvPr>
          <p:cNvGrpSpPr/>
          <p:nvPr userDrawn="1"/>
        </p:nvGrpSpPr>
        <p:grpSpPr>
          <a:xfrm>
            <a:off x="139880" y="1826943"/>
            <a:ext cx="2122869" cy="1974248"/>
            <a:chOff x="4612380" y="4070966"/>
            <a:chExt cx="2122869" cy="1974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5CECF109-B586-37E6-1F06-A615E7E57F26}"/>
                </a:ext>
              </a:extLst>
            </p:cNvPr>
            <p:cNvGrpSpPr/>
            <p:nvPr userDrawn="1"/>
          </p:nvGrpSpPr>
          <p:grpSpPr>
            <a:xfrm>
              <a:off x="4612380" y="5102486"/>
              <a:ext cx="2122869" cy="942728"/>
              <a:chOff x="345821" y="2444457"/>
              <a:chExt cx="2122869" cy="942728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2A65A3-B014-274E-241C-6BA41081B67C}"/>
                  </a:ext>
                </a:extLst>
              </p:cNvPr>
              <p:cNvSpPr txBox="1"/>
              <p:nvPr userDrawn="1"/>
            </p:nvSpPr>
            <p:spPr>
              <a:xfrm>
                <a:off x="345821" y="2444457"/>
                <a:ext cx="2122869" cy="44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lnSpc>
                    <a:spcPts val="1800"/>
                  </a:lnSpc>
                </a:pPr>
                <a:r>
                  <a:rPr lang="en-US" sz="1200" b="1" i="0" spc="0" dirty="0">
                    <a:solidFill>
                      <a:schemeClr val="accent4"/>
                    </a:solidFill>
                    <a:latin typeface="+mj-lt"/>
                    <a:ea typeface="Titillium" charset="0"/>
                    <a:cs typeface="Titillium" charset="0"/>
                  </a:rPr>
                  <a:t>TECH ICONS WINNER </a:t>
                </a:r>
              </a:p>
              <a:p>
                <a:pPr algn="ctr">
                  <a:lnSpc>
                    <a:spcPts val="1800"/>
                  </a:lnSpc>
                </a:pPr>
                <a:r>
                  <a:rPr lang="en-US" sz="1200" b="1" i="0" spc="0" dirty="0">
                    <a:solidFill>
                      <a:schemeClr val="accent4"/>
                    </a:solidFill>
                    <a:latin typeface="+mj-lt"/>
                    <a:ea typeface="Titillium" charset="0"/>
                    <a:cs typeface="Titillium" charset="0"/>
                  </a:rPr>
                  <a:t>OF THE YEAR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1330F4-1D6A-EF11-97C6-647C95189763}"/>
                  </a:ext>
                </a:extLst>
              </p:cNvPr>
              <p:cNvSpPr txBox="1"/>
              <p:nvPr userDrawn="1"/>
            </p:nvSpPr>
            <p:spPr>
              <a:xfrm>
                <a:off x="409413" y="2995346"/>
                <a:ext cx="1995684" cy="391839"/>
              </a:xfrm>
              <a:prstGeom prst="rect">
                <a:avLst/>
              </a:prstGeom>
              <a:noFill/>
            </p:spPr>
            <p:txBody>
              <a:bodyPr wrap="square" lIns="0" tIns="0" rIns="91440" bIns="0" rtlCol="0">
                <a:spAutoFit/>
              </a:bodyPr>
              <a:lstStyle/>
              <a:p>
                <a:pPr algn="ctr">
                  <a:lnSpc>
                    <a:spcPts val="1600"/>
                  </a:lnSpc>
                </a:pPr>
                <a:r>
                  <a:rPr lang="en-US" sz="1100" i="1" dirty="0">
                    <a:solidFill>
                      <a:schemeClr val="bg1"/>
                    </a:solidFill>
                    <a:latin typeface="+mn-lt"/>
                    <a:ea typeface="Titillium" charset="0"/>
                    <a:cs typeface="Titillium" charset="0"/>
                  </a:rPr>
                  <a:t>Africa Tech Week</a:t>
                </a:r>
              </a:p>
              <a:p>
                <a:pPr algn="ctr">
                  <a:lnSpc>
                    <a:spcPts val="1600"/>
                  </a:lnSpc>
                </a:pPr>
                <a:r>
                  <a:rPr lang="en-US" sz="1100" i="1" dirty="0">
                    <a:solidFill>
                      <a:schemeClr val="bg1"/>
                    </a:solidFill>
                    <a:latin typeface="+mn-lt"/>
                    <a:ea typeface="Titillium" charset="0"/>
                    <a:cs typeface="Titillium" charset="0"/>
                  </a:rPr>
                  <a:t>Awards 2026</a:t>
                </a:r>
              </a:p>
            </p:txBody>
          </p:sp>
        </p:grpSp>
        <p:pic>
          <p:nvPicPr>
            <p:cNvPr id="32" name="Picture 31" descr="The image features the TECH ICON 2026 award ribbon, celebrating excellence in African innovation.&#10;&#10;AI-generated content may be incorrect.">
              <a:extLst>
                <a:ext uri="{FF2B5EF4-FFF2-40B4-BE49-F238E27FC236}">
                  <a16:creationId xmlns:a16="http://schemas.microsoft.com/office/drawing/2014/main" id="{12E59EF4-0BAF-8542-38FC-1066CF53F5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9006" y="4070966"/>
              <a:ext cx="829616" cy="1056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581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 – 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numbers&#10;&#10;AI-generated content may be incorrect.">
            <a:extLst>
              <a:ext uri="{FF2B5EF4-FFF2-40B4-BE49-F238E27FC236}">
                <a16:creationId xmlns:a16="http://schemas.microsoft.com/office/drawing/2014/main" id="{15DFA0B6-E56A-757F-CFD3-98ECED48EA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" y="0"/>
            <a:ext cx="121908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9536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Photo of Mint Group team members at work">
            <a:extLst>
              <a:ext uri="{FF2B5EF4-FFF2-40B4-BE49-F238E27FC236}">
                <a16:creationId xmlns:a16="http://schemas.microsoft.com/office/drawing/2014/main" id="{E801FA90-CFC9-1753-0C79-A5470AF294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3" y="0"/>
            <a:ext cx="1218929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058678-69CB-2C5A-C90B-C59B74F044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7256" y="2614385"/>
            <a:ext cx="5627914" cy="1629229"/>
          </a:xfrm>
        </p:spPr>
        <p:txBody>
          <a:bodyPr anchor="b">
            <a:normAutofit/>
          </a:bodyPr>
          <a:lstStyle>
            <a:lvl1pPr algn="ctr">
              <a:defRPr sz="5400" b="0">
                <a:solidFill>
                  <a:srgbClr val="184B9A"/>
                </a:solidFill>
                <a:latin typeface="Lato Light"/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8876615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hoto of Mint Group team members at work">
            <a:extLst>
              <a:ext uri="{FF2B5EF4-FFF2-40B4-BE49-F238E27FC236}">
                <a16:creationId xmlns:a16="http://schemas.microsoft.com/office/drawing/2014/main" id="{96A3BB4E-06D8-A66D-3502-47924980F9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4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67D155-71FC-6DB9-8040-6A13A58FF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2600" b="1">
                <a:solidFill>
                  <a:srgbClr val="184B9A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D16B-97BA-D798-A68A-738BECF2F6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900238"/>
            <a:ext cx="10515601" cy="391999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84B9A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8200" y="5979114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499533" y="5979114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1980307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Photo of Mint Group team members at work">
            <a:extLst>
              <a:ext uri="{FF2B5EF4-FFF2-40B4-BE49-F238E27FC236}">
                <a16:creationId xmlns:a16="http://schemas.microsoft.com/office/drawing/2014/main" id="{49FDA634-F554-EADF-AA89-D3C6D5FB1F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081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67D155-71FC-6DB9-8040-6A13A58FF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2600" b="1">
                <a:solidFill>
                  <a:srgbClr val="184B9A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D16B-97BA-D798-A68A-738BECF2F6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900238"/>
            <a:ext cx="10515601" cy="42538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84B9A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 dirty="0"/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8200" y="6266028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499533" y="6266028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756372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quare with white text&#10;&#10;AI-generated content may be incorrect.">
            <a:extLst>
              <a:ext uri="{FF2B5EF4-FFF2-40B4-BE49-F238E27FC236}">
                <a16:creationId xmlns:a16="http://schemas.microsoft.com/office/drawing/2014/main" id="{60D0F094-6B3A-2DA3-4B1B-2CC7CF7C09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" y="0"/>
            <a:ext cx="1219081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67D155-71FC-6DB9-8040-6A13A58FF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D16B-97BA-D798-A68A-738BECF2F6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900238"/>
            <a:ext cx="10515601" cy="42129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8200" y="6322726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bg1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pPr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499533" y="6322726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bg1"/>
                </a:solidFill>
                <a:latin typeface="Lato" pitchFamily="34" charset="0"/>
              </a:defRPr>
            </a:lvl1pPr>
          </a:lstStyle>
          <a:p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59324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square with white text&#10;&#10;AI-generated content may be incorrect.">
            <a:extLst>
              <a:ext uri="{FF2B5EF4-FFF2-40B4-BE49-F238E27FC236}">
                <a16:creationId xmlns:a16="http://schemas.microsoft.com/office/drawing/2014/main" id="{47E3A864-BCB2-4071-F55B-52D1E7B148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B4E35C-2902-AAF3-C0E0-96AF9378F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07" b="11307"/>
          <a:stretch/>
        </p:blipFill>
        <p:spPr>
          <a:xfrm>
            <a:off x="7208049" y="1148288"/>
            <a:ext cx="4191505" cy="4219091"/>
          </a:xfrm>
          <a:custGeom>
            <a:avLst/>
            <a:gdLst>
              <a:gd name="connsiteX0" fmla="*/ 509638 w 1493307"/>
              <a:gd name="connsiteY0" fmla="*/ 72 h 1503135"/>
              <a:gd name="connsiteX1" fmla="*/ 1110785 w 1493307"/>
              <a:gd name="connsiteY1" fmla="*/ 263277 h 1503135"/>
              <a:gd name="connsiteX2" fmla="*/ 1463876 w 1493307"/>
              <a:gd name="connsiteY2" fmla="*/ 734876 h 1503135"/>
              <a:gd name="connsiteX3" fmla="*/ 1471713 w 1493307"/>
              <a:gd name="connsiteY3" fmla="*/ 758722 h 1503135"/>
              <a:gd name="connsiteX4" fmla="*/ 1479168 w 1493307"/>
              <a:gd name="connsiteY4" fmla="*/ 988572 h 1503135"/>
              <a:gd name="connsiteX5" fmla="*/ 1479168 w 1493307"/>
              <a:gd name="connsiteY5" fmla="*/ 988620 h 1503135"/>
              <a:gd name="connsiteX6" fmla="*/ 1369976 w 1493307"/>
              <a:gd name="connsiteY6" fmla="*/ 1167770 h 1503135"/>
              <a:gd name="connsiteX7" fmla="*/ 1363908 w 1493307"/>
              <a:gd name="connsiteY7" fmla="*/ 1174316 h 1503135"/>
              <a:gd name="connsiteX8" fmla="*/ 1118144 w 1493307"/>
              <a:gd name="connsiteY8" fmla="*/ 1342236 h 1503135"/>
              <a:gd name="connsiteX9" fmla="*/ 509112 w 1493307"/>
              <a:gd name="connsiteY9" fmla="*/ 1502654 h 1503135"/>
              <a:gd name="connsiteX10" fmla="*/ 451912 w 1493307"/>
              <a:gd name="connsiteY10" fmla="*/ 1496441 h 1503135"/>
              <a:gd name="connsiteX11" fmla="*/ 388405 w 1493307"/>
              <a:gd name="connsiteY11" fmla="*/ 1484400 h 1503135"/>
              <a:gd name="connsiteX12" fmla="*/ 166392 w 1493307"/>
              <a:gd name="connsiteY12" fmla="*/ 1319442 h 1503135"/>
              <a:gd name="connsiteX13" fmla="*/ 163190 w 1493307"/>
              <a:gd name="connsiteY13" fmla="*/ 1314759 h 1503135"/>
              <a:gd name="connsiteX14" fmla="*/ 1243 w 1493307"/>
              <a:gd name="connsiteY14" fmla="*/ 791455 h 1503135"/>
              <a:gd name="connsiteX15" fmla="*/ 177526 w 1493307"/>
              <a:gd name="connsiteY15" fmla="*/ 157574 h 1503135"/>
              <a:gd name="connsiteX16" fmla="*/ 190858 w 1493307"/>
              <a:gd name="connsiteY16" fmla="*/ 142092 h 1503135"/>
              <a:gd name="connsiteX17" fmla="*/ 500272 w 1493307"/>
              <a:gd name="connsiteY17" fmla="*/ 645 h 1503135"/>
              <a:gd name="connsiteX18" fmla="*/ 509638 w 1493307"/>
              <a:gd name="connsiteY18" fmla="*/ 72 h 150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493307" h="1503135">
                <a:moveTo>
                  <a:pt x="509638" y="72"/>
                </a:moveTo>
                <a:cubicBezTo>
                  <a:pt x="694044" y="10585"/>
                  <a:pt x="914003" y="101331"/>
                  <a:pt x="1110785" y="263277"/>
                </a:cubicBezTo>
                <a:cubicBezTo>
                  <a:pt x="1283149" y="405106"/>
                  <a:pt x="1405338" y="574794"/>
                  <a:pt x="1463876" y="734876"/>
                </a:cubicBezTo>
                <a:cubicBezTo>
                  <a:pt x="1466839" y="742952"/>
                  <a:pt x="1469419" y="750885"/>
                  <a:pt x="1471713" y="758722"/>
                </a:cubicBezTo>
                <a:cubicBezTo>
                  <a:pt x="1496800" y="830305"/>
                  <a:pt x="1501006" y="909964"/>
                  <a:pt x="1479168" y="988572"/>
                </a:cubicBezTo>
                <a:lnTo>
                  <a:pt x="1479168" y="988620"/>
                </a:lnTo>
                <a:cubicBezTo>
                  <a:pt x="1459336" y="1059964"/>
                  <a:pt x="1420630" y="1120939"/>
                  <a:pt x="1369976" y="1167770"/>
                </a:cubicBezTo>
                <a:cubicBezTo>
                  <a:pt x="1368113" y="1170207"/>
                  <a:pt x="1366154" y="1172405"/>
                  <a:pt x="1363908" y="1174316"/>
                </a:cubicBezTo>
                <a:cubicBezTo>
                  <a:pt x="1292085" y="1235769"/>
                  <a:pt x="1209559" y="1292730"/>
                  <a:pt x="1118144" y="1342236"/>
                </a:cubicBezTo>
                <a:cubicBezTo>
                  <a:pt x="908268" y="1455871"/>
                  <a:pt x="691129" y="1508818"/>
                  <a:pt x="509112" y="1502654"/>
                </a:cubicBezTo>
                <a:cubicBezTo>
                  <a:pt x="488899" y="1501984"/>
                  <a:pt x="469832" y="1499834"/>
                  <a:pt x="451912" y="1496441"/>
                </a:cubicBezTo>
                <a:cubicBezTo>
                  <a:pt x="430791" y="1494243"/>
                  <a:pt x="409574" y="1490277"/>
                  <a:pt x="388405" y="1484400"/>
                </a:cubicBezTo>
                <a:cubicBezTo>
                  <a:pt x="292689" y="1457831"/>
                  <a:pt x="215563" y="1397286"/>
                  <a:pt x="166392" y="1319442"/>
                </a:cubicBezTo>
                <a:cubicBezTo>
                  <a:pt x="165340" y="1317865"/>
                  <a:pt x="164241" y="1316336"/>
                  <a:pt x="163190" y="1314759"/>
                </a:cubicBezTo>
                <a:cubicBezTo>
                  <a:pt x="70820" y="1176085"/>
                  <a:pt x="10514" y="993542"/>
                  <a:pt x="1243" y="791455"/>
                </a:cubicBezTo>
                <a:cubicBezTo>
                  <a:pt x="-10274" y="540961"/>
                  <a:pt x="59064" y="313166"/>
                  <a:pt x="177526" y="157574"/>
                </a:cubicBezTo>
                <a:cubicBezTo>
                  <a:pt x="182017" y="151649"/>
                  <a:pt x="186462" y="146536"/>
                  <a:pt x="190858" y="142092"/>
                </a:cubicBezTo>
                <a:cubicBezTo>
                  <a:pt x="265547" y="50534"/>
                  <a:pt x="379947" y="-2986"/>
                  <a:pt x="500272" y="645"/>
                </a:cubicBezTo>
                <a:cubicBezTo>
                  <a:pt x="503426" y="72"/>
                  <a:pt x="506532" y="-119"/>
                  <a:pt x="509638" y="72"/>
                </a:cubicBezTo>
                <a:close/>
              </a:path>
            </a:pathLst>
          </a:cu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6CB443-1573-C204-3587-2A356C438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78165">
            <a:off x="6079310" y="87912"/>
            <a:ext cx="5692086" cy="59881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A27B09-2CF7-2806-94C4-D1506D7DE9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28960">
            <a:off x="6382164" y="456626"/>
            <a:ext cx="5100251" cy="5363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B768D8-ACB0-F851-DC44-E217F987B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536464" y="-391319"/>
            <a:ext cx="7233003" cy="6858000"/>
          </a:xfrm>
          <a:prstGeom prst="rect">
            <a:avLst/>
          </a:prstGeom>
        </p:spPr>
      </p:pic>
      <p:pic>
        <p:nvPicPr>
          <p:cNvPr id="9" name="Graphic 8" descr="Photo of Mint Group team members at work">
            <a:extLst>
              <a:ext uri="{FF2B5EF4-FFF2-40B4-BE49-F238E27FC236}">
                <a16:creationId xmlns:a16="http://schemas.microsoft.com/office/drawing/2014/main" id="{15CDDA4F-5765-9970-8D72-527E49D9BB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22802" y="5748912"/>
            <a:ext cx="905271" cy="9052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7468B47-7F6F-2469-0413-CEB456090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012" y="2706731"/>
            <a:ext cx="5472289" cy="1805782"/>
          </a:xfrm>
        </p:spPr>
        <p:txBody>
          <a:bodyPr>
            <a:noAutofit/>
          </a:bodyPr>
          <a:lstStyle>
            <a:lvl1pPr>
              <a:defRPr sz="54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/>
              <a:t>Master title</a:t>
            </a:r>
            <a:endParaRPr lang="en-ZA"/>
          </a:p>
        </p:txBody>
      </p:sp>
      <p:sp>
        <p:nvSpPr>
          <p:cNvPr id="942" name="Subtitle 2">
            <a:extLst>
              <a:ext uri="{FF2B5EF4-FFF2-40B4-BE49-F238E27FC236}">
                <a16:creationId xmlns:a16="http://schemas.microsoft.com/office/drawing/2014/main" id="{F0E11164-B228-3D2C-100B-F28F034DBE0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20157" y="4650000"/>
            <a:ext cx="5472289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400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2400" i="1">
                <a:solidFill>
                  <a:schemeClr val="accent3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21654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–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0" name="Background gradient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935F0F9-490B-CBD4-D591-C30BC3A4AC87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1818462" y="811778"/>
            <a:ext cx="6692323" cy="14276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>
              <a:buNone/>
              <a:defRPr sz="5400" b="0" i="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pPr algn="l"/>
            <a:r>
              <a:rPr lang="en-US" sz="5400" b="0" i="0">
                <a:solidFill>
                  <a:schemeClr val="bg1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6600" b="0" i="0" dirty="0">
              <a:solidFill>
                <a:schemeClr val="bg1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137" name="Title 1">
            <a:extLst>
              <a:ext uri="{FF2B5EF4-FFF2-40B4-BE49-F238E27FC236}">
                <a16:creationId xmlns:a16="http://schemas.microsoft.com/office/drawing/2014/main" id="{1B54FCA0-1143-272D-7052-6CB5110E03F0}"/>
              </a:ext>
            </a:extLst>
          </p:cNvPr>
          <p:cNvSpPr txBox="1">
            <a:spLocks/>
          </p:cNvSpPr>
          <p:nvPr/>
        </p:nvSpPr>
        <p:spPr>
          <a:xfrm>
            <a:off x="1673657" y="2203488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 dirty="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01</a:t>
            </a:r>
          </a:p>
        </p:txBody>
      </p:sp>
      <p:cxnSp>
        <p:nvCxnSpPr>
          <p:cNvPr id="138" name="Straight Connector 8">
            <a:extLst>
              <a:ext uri="{FF2B5EF4-FFF2-40B4-BE49-F238E27FC236}">
                <a16:creationId xmlns:a16="http://schemas.microsoft.com/office/drawing/2014/main" id="{C591E34D-FAE8-DCB8-77DD-20ABF1E11502}"/>
              </a:ext>
            </a:extLst>
          </p:cNvPr>
          <p:cNvCxnSpPr>
            <a:cxnSpLocks/>
          </p:cNvCxnSpPr>
          <p:nvPr/>
        </p:nvCxnSpPr>
        <p:spPr>
          <a:xfrm>
            <a:off x="1818463" y="3103300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Item Heading 10">
            <a:extLst>
              <a:ext uri="{FF2B5EF4-FFF2-40B4-BE49-F238E27FC236}">
                <a16:creationId xmlns:a16="http://schemas.microsoft.com/office/drawing/2014/main" id="{CC62B4B5-0401-7CAD-4D66-D15BA10DB081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843711" y="2259474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0" name="Item Text 11">
            <a:extLst>
              <a:ext uri="{FF2B5EF4-FFF2-40B4-BE49-F238E27FC236}">
                <a16:creationId xmlns:a16="http://schemas.microsoft.com/office/drawing/2014/main" id="{7FD0EF9F-8ECA-169F-0B19-A61601013955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2843710" y="2631548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1" name="Title 1">
            <a:extLst>
              <a:ext uri="{FF2B5EF4-FFF2-40B4-BE49-F238E27FC236}">
                <a16:creationId xmlns:a16="http://schemas.microsoft.com/office/drawing/2014/main" id="{90AA8BB4-86EC-A1EC-AD23-C19CC994F9CA}"/>
              </a:ext>
            </a:extLst>
          </p:cNvPr>
          <p:cNvSpPr txBox="1">
            <a:spLocks/>
          </p:cNvSpPr>
          <p:nvPr/>
        </p:nvSpPr>
        <p:spPr>
          <a:xfrm>
            <a:off x="1673657" y="3444893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02</a:t>
            </a:r>
          </a:p>
        </p:txBody>
      </p:sp>
      <p:cxnSp>
        <p:nvCxnSpPr>
          <p:cNvPr id="142" name="Straight Connector 13">
            <a:extLst>
              <a:ext uri="{FF2B5EF4-FFF2-40B4-BE49-F238E27FC236}">
                <a16:creationId xmlns:a16="http://schemas.microsoft.com/office/drawing/2014/main" id="{BDC9BC6C-CF20-AD04-BE76-A49BD766058E}"/>
              </a:ext>
            </a:extLst>
          </p:cNvPr>
          <p:cNvCxnSpPr>
            <a:cxnSpLocks/>
          </p:cNvCxnSpPr>
          <p:nvPr/>
        </p:nvCxnSpPr>
        <p:spPr>
          <a:xfrm>
            <a:off x="1818463" y="4344705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Item Heading 12">
            <a:extLst>
              <a:ext uri="{FF2B5EF4-FFF2-40B4-BE49-F238E27FC236}">
                <a16:creationId xmlns:a16="http://schemas.microsoft.com/office/drawing/2014/main" id="{2C754E2C-6473-DEE7-363F-0BC0468EC9B1}"/>
              </a:ext>
            </a:extLst>
          </p:cNvPr>
          <p:cNvSpPr txBox="1">
            <a:spLocks noGrp="1"/>
          </p:cNvSpPr>
          <p:nvPr>
            <p:ph type="body" idx="12"/>
          </p:nvPr>
        </p:nvSpPr>
        <p:spPr>
          <a:xfrm>
            <a:off x="2843711" y="3500879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4" name="Item Text 13">
            <a:extLst>
              <a:ext uri="{FF2B5EF4-FFF2-40B4-BE49-F238E27FC236}">
                <a16:creationId xmlns:a16="http://schemas.microsoft.com/office/drawing/2014/main" id="{AABC2D33-9AEC-D56B-42DF-27A457825227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2843710" y="3872953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5" name="Title 1">
            <a:extLst>
              <a:ext uri="{FF2B5EF4-FFF2-40B4-BE49-F238E27FC236}">
                <a16:creationId xmlns:a16="http://schemas.microsoft.com/office/drawing/2014/main" id="{232586D6-6DB4-5B0E-3F88-A2DF6954DFE7}"/>
              </a:ext>
            </a:extLst>
          </p:cNvPr>
          <p:cNvSpPr txBox="1">
            <a:spLocks/>
          </p:cNvSpPr>
          <p:nvPr/>
        </p:nvSpPr>
        <p:spPr>
          <a:xfrm>
            <a:off x="1673656" y="4692561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03</a:t>
            </a:r>
          </a:p>
        </p:txBody>
      </p:sp>
      <p:cxnSp>
        <p:nvCxnSpPr>
          <p:cNvPr id="146" name="Straight Connector 18">
            <a:extLst>
              <a:ext uri="{FF2B5EF4-FFF2-40B4-BE49-F238E27FC236}">
                <a16:creationId xmlns:a16="http://schemas.microsoft.com/office/drawing/2014/main" id="{7D4B1E6A-4A51-B2C7-EA60-ED8D413C762F}"/>
              </a:ext>
            </a:extLst>
          </p:cNvPr>
          <p:cNvCxnSpPr>
            <a:cxnSpLocks/>
          </p:cNvCxnSpPr>
          <p:nvPr/>
        </p:nvCxnSpPr>
        <p:spPr>
          <a:xfrm>
            <a:off x="1818462" y="5592373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Item Heading 14">
            <a:extLst>
              <a:ext uri="{FF2B5EF4-FFF2-40B4-BE49-F238E27FC236}">
                <a16:creationId xmlns:a16="http://schemas.microsoft.com/office/drawing/2014/main" id="{C25BA517-E8CC-CFAB-6107-CFC5061B36F6}"/>
              </a:ext>
            </a:extLst>
          </p:cNvPr>
          <p:cNvSpPr txBox="1">
            <a:spLocks noGrp="1"/>
          </p:cNvSpPr>
          <p:nvPr>
            <p:ph type="body" idx="14"/>
          </p:nvPr>
        </p:nvSpPr>
        <p:spPr>
          <a:xfrm>
            <a:off x="2843710" y="4748547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8" name="Item Text 15">
            <a:extLst>
              <a:ext uri="{FF2B5EF4-FFF2-40B4-BE49-F238E27FC236}">
                <a16:creationId xmlns:a16="http://schemas.microsoft.com/office/drawing/2014/main" id="{221272A1-D5E8-00E5-B03E-51946273A430}"/>
              </a:ext>
            </a:extLst>
          </p:cNvPr>
          <p:cNvSpPr txBox="1">
            <a:spLocks noGrp="1"/>
          </p:cNvSpPr>
          <p:nvPr>
            <p:ph type="body" idx="15"/>
          </p:nvPr>
        </p:nvSpPr>
        <p:spPr>
          <a:xfrm>
            <a:off x="2843709" y="5120621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49" name="Title 1">
            <a:extLst>
              <a:ext uri="{FF2B5EF4-FFF2-40B4-BE49-F238E27FC236}">
                <a16:creationId xmlns:a16="http://schemas.microsoft.com/office/drawing/2014/main" id="{B65BE9C8-167D-BCDA-5407-41B3B967108F}"/>
              </a:ext>
            </a:extLst>
          </p:cNvPr>
          <p:cNvSpPr txBox="1">
            <a:spLocks/>
          </p:cNvSpPr>
          <p:nvPr/>
        </p:nvSpPr>
        <p:spPr>
          <a:xfrm>
            <a:off x="6311251" y="2203488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04</a:t>
            </a:r>
          </a:p>
        </p:txBody>
      </p:sp>
      <p:cxnSp>
        <p:nvCxnSpPr>
          <p:cNvPr id="150" name="Straight Connector 23">
            <a:extLst>
              <a:ext uri="{FF2B5EF4-FFF2-40B4-BE49-F238E27FC236}">
                <a16:creationId xmlns:a16="http://schemas.microsoft.com/office/drawing/2014/main" id="{CEAD1FA9-6F69-70AE-EB74-DF4A3FC88F78}"/>
              </a:ext>
            </a:extLst>
          </p:cNvPr>
          <p:cNvCxnSpPr>
            <a:cxnSpLocks/>
          </p:cNvCxnSpPr>
          <p:nvPr/>
        </p:nvCxnSpPr>
        <p:spPr>
          <a:xfrm>
            <a:off x="6456057" y="3103300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Item Heading 16">
            <a:extLst>
              <a:ext uri="{FF2B5EF4-FFF2-40B4-BE49-F238E27FC236}">
                <a16:creationId xmlns:a16="http://schemas.microsoft.com/office/drawing/2014/main" id="{66BF9565-18AF-4C60-67C2-34D45F29E92B}"/>
              </a:ext>
            </a:extLst>
          </p:cNvPr>
          <p:cNvSpPr txBox="1">
            <a:spLocks noGrp="1"/>
          </p:cNvSpPr>
          <p:nvPr>
            <p:ph type="body" idx="16"/>
          </p:nvPr>
        </p:nvSpPr>
        <p:spPr>
          <a:xfrm>
            <a:off x="7481305" y="2259474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52" name="Item Text 17">
            <a:extLst>
              <a:ext uri="{FF2B5EF4-FFF2-40B4-BE49-F238E27FC236}">
                <a16:creationId xmlns:a16="http://schemas.microsoft.com/office/drawing/2014/main" id="{8D13E232-9B5B-09EA-164B-413D8089668C}"/>
              </a:ext>
            </a:extLst>
          </p:cNvPr>
          <p:cNvSpPr txBox="1">
            <a:spLocks noGrp="1"/>
          </p:cNvSpPr>
          <p:nvPr>
            <p:ph type="body" idx="17"/>
          </p:nvPr>
        </p:nvSpPr>
        <p:spPr>
          <a:xfrm>
            <a:off x="7481304" y="2631548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53" name="Title 1">
            <a:extLst>
              <a:ext uri="{FF2B5EF4-FFF2-40B4-BE49-F238E27FC236}">
                <a16:creationId xmlns:a16="http://schemas.microsoft.com/office/drawing/2014/main" id="{68B19735-751B-5B0E-72D3-D965E92614B1}"/>
              </a:ext>
            </a:extLst>
          </p:cNvPr>
          <p:cNvSpPr txBox="1">
            <a:spLocks/>
          </p:cNvSpPr>
          <p:nvPr/>
        </p:nvSpPr>
        <p:spPr>
          <a:xfrm>
            <a:off x="6311251" y="3444893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05</a:t>
            </a:r>
          </a:p>
        </p:txBody>
      </p:sp>
      <p:cxnSp>
        <p:nvCxnSpPr>
          <p:cNvPr id="154" name="Straight Connector 28">
            <a:extLst>
              <a:ext uri="{FF2B5EF4-FFF2-40B4-BE49-F238E27FC236}">
                <a16:creationId xmlns:a16="http://schemas.microsoft.com/office/drawing/2014/main" id="{E1FBF62B-643F-2C41-216C-F1A45B416060}"/>
              </a:ext>
            </a:extLst>
          </p:cNvPr>
          <p:cNvCxnSpPr>
            <a:cxnSpLocks/>
          </p:cNvCxnSpPr>
          <p:nvPr/>
        </p:nvCxnSpPr>
        <p:spPr>
          <a:xfrm>
            <a:off x="6456057" y="4344705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Item Heading 18">
            <a:extLst>
              <a:ext uri="{FF2B5EF4-FFF2-40B4-BE49-F238E27FC236}">
                <a16:creationId xmlns:a16="http://schemas.microsoft.com/office/drawing/2014/main" id="{7C2271DB-9519-2FF9-C6C4-E4B4A50C885D}"/>
              </a:ext>
            </a:extLst>
          </p:cNvPr>
          <p:cNvSpPr txBox="1">
            <a:spLocks noGrp="1"/>
          </p:cNvSpPr>
          <p:nvPr>
            <p:ph type="body" idx="18"/>
          </p:nvPr>
        </p:nvSpPr>
        <p:spPr>
          <a:xfrm>
            <a:off x="7481305" y="3500879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56" name="Item Text 19">
            <a:extLst>
              <a:ext uri="{FF2B5EF4-FFF2-40B4-BE49-F238E27FC236}">
                <a16:creationId xmlns:a16="http://schemas.microsoft.com/office/drawing/2014/main" id="{7D066D68-FE18-7B27-3721-F8D870911AC5}"/>
              </a:ext>
            </a:extLst>
          </p:cNvPr>
          <p:cNvSpPr txBox="1">
            <a:spLocks noGrp="1"/>
          </p:cNvSpPr>
          <p:nvPr>
            <p:ph type="body" idx="19"/>
          </p:nvPr>
        </p:nvSpPr>
        <p:spPr>
          <a:xfrm>
            <a:off x="7481304" y="3872953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57" name="Title 1">
            <a:extLst>
              <a:ext uri="{FF2B5EF4-FFF2-40B4-BE49-F238E27FC236}">
                <a16:creationId xmlns:a16="http://schemas.microsoft.com/office/drawing/2014/main" id="{AA161A3D-3F43-8D06-116E-6032D4F115D1}"/>
              </a:ext>
            </a:extLst>
          </p:cNvPr>
          <p:cNvSpPr txBox="1">
            <a:spLocks/>
          </p:cNvSpPr>
          <p:nvPr/>
        </p:nvSpPr>
        <p:spPr>
          <a:xfrm>
            <a:off x="6311250" y="4692561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06</a:t>
            </a:r>
          </a:p>
        </p:txBody>
      </p:sp>
      <p:cxnSp>
        <p:nvCxnSpPr>
          <p:cNvPr id="158" name="Straight Connector 33">
            <a:extLst>
              <a:ext uri="{FF2B5EF4-FFF2-40B4-BE49-F238E27FC236}">
                <a16:creationId xmlns:a16="http://schemas.microsoft.com/office/drawing/2014/main" id="{2D365444-232A-E53F-F1E8-1B052ED50E94}"/>
              </a:ext>
            </a:extLst>
          </p:cNvPr>
          <p:cNvCxnSpPr>
            <a:cxnSpLocks/>
          </p:cNvCxnSpPr>
          <p:nvPr/>
        </p:nvCxnSpPr>
        <p:spPr>
          <a:xfrm>
            <a:off x="6456056" y="5592373"/>
            <a:ext cx="726142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Item Heading 20">
            <a:extLst>
              <a:ext uri="{FF2B5EF4-FFF2-40B4-BE49-F238E27FC236}">
                <a16:creationId xmlns:a16="http://schemas.microsoft.com/office/drawing/2014/main" id="{442DCD92-823D-7B41-A94F-2890FC59E783}"/>
              </a:ext>
            </a:extLst>
          </p:cNvPr>
          <p:cNvSpPr txBox="1">
            <a:spLocks noGrp="1"/>
          </p:cNvSpPr>
          <p:nvPr>
            <p:ph type="body" idx="20"/>
          </p:nvPr>
        </p:nvSpPr>
        <p:spPr>
          <a:xfrm>
            <a:off x="7481304" y="4748547"/>
            <a:ext cx="327453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160" name="Item Text 21">
            <a:extLst>
              <a:ext uri="{FF2B5EF4-FFF2-40B4-BE49-F238E27FC236}">
                <a16:creationId xmlns:a16="http://schemas.microsoft.com/office/drawing/2014/main" id="{33AC75AB-9D44-E6D3-2BAC-CD1E1181FD08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xfrm>
            <a:off x="7481303" y="5120621"/>
            <a:ext cx="3274539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0576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blue square with white text&#10;&#10;AI-generated content may be incorrect.">
            <a:extLst>
              <a:ext uri="{FF2B5EF4-FFF2-40B4-BE49-F238E27FC236}">
                <a16:creationId xmlns:a16="http://schemas.microsoft.com/office/drawing/2014/main" id="{AF6C1773-07C5-75AD-A812-688454F1EF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40248"/>
            <a:ext cx="12192000" cy="341775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DE2D41E-6442-2A3F-F94D-12D3AD7D0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901320">
            <a:off x="908122" y="2077265"/>
            <a:ext cx="2995433" cy="314982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DD41D32-772E-22DF-AAD5-E97F6948B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12248">
            <a:off x="4743174" y="2091958"/>
            <a:ext cx="2995433" cy="314982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8C32470-562D-77BE-799C-F1E2D71E1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5200">
            <a:off x="8129749" y="2186901"/>
            <a:ext cx="2995433" cy="31498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2CDAA-0A30-6495-889E-BE17C15338C8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669394" y="907463"/>
            <a:ext cx="10991624" cy="8034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buNone/>
              <a:defRPr sz="5400" b="0">
                <a:solidFill>
                  <a:schemeClr val="accent3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pPr algn="ctr"/>
            <a:r>
              <a:rPr lang="en-US" sz="5400">
                <a:solidFill>
                  <a:schemeClr val="accent3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6000">
              <a:solidFill>
                <a:schemeClr val="accent3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720" name="Team member image slot 1"/>
          <p:cNvSpPr>
            <a:spLocks noGrp="1"/>
          </p:cNvSpPr>
          <p:nvPr>
            <p:ph type="pic" idx="20"/>
          </p:nvPr>
        </p:nvSpPr>
        <p:spPr>
          <a:xfrm>
            <a:off x="8596094" y="2682406"/>
            <a:ext cx="2222063" cy="2236687"/>
          </a:xfrm>
          <a:custGeom>
            <a:avLst/>
            <a:gdLst>
              <a:gd name="connsiteX0" fmla="*/ 509638 w 1493307"/>
              <a:gd name="connsiteY0" fmla="*/ 72 h 1503135"/>
              <a:gd name="connsiteX1" fmla="*/ 1110785 w 1493307"/>
              <a:gd name="connsiteY1" fmla="*/ 263277 h 1503135"/>
              <a:gd name="connsiteX2" fmla="*/ 1463876 w 1493307"/>
              <a:gd name="connsiteY2" fmla="*/ 734876 h 1503135"/>
              <a:gd name="connsiteX3" fmla="*/ 1471713 w 1493307"/>
              <a:gd name="connsiteY3" fmla="*/ 758722 h 1503135"/>
              <a:gd name="connsiteX4" fmla="*/ 1479168 w 1493307"/>
              <a:gd name="connsiteY4" fmla="*/ 988572 h 1503135"/>
              <a:gd name="connsiteX5" fmla="*/ 1479168 w 1493307"/>
              <a:gd name="connsiteY5" fmla="*/ 988620 h 1503135"/>
              <a:gd name="connsiteX6" fmla="*/ 1369976 w 1493307"/>
              <a:gd name="connsiteY6" fmla="*/ 1167770 h 1503135"/>
              <a:gd name="connsiteX7" fmla="*/ 1363908 w 1493307"/>
              <a:gd name="connsiteY7" fmla="*/ 1174316 h 1503135"/>
              <a:gd name="connsiteX8" fmla="*/ 1118144 w 1493307"/>
              <a:gd name="connsiteY8" fmla="*/ 1342236 h 1503135"/>
              <a:gd name="connsiteX9" fmla="*/ 509112 w 1493307"/>
              <a:gd name="connsiteY9" fmla="*/ 1502654 h 1503135"/>
              <a:gd name="connsiteX10" fmla="*/ 451912 w 1493307"/>
              <a:gd name="connsiteY10" fmla="*/ 1496441 h 1503135"/>
              <a:gd name="connsiteX11" fmla="*/ 388405 w 1493307"/>
              <a:gd name="connsiteY11" fmla="*/ 1484400 h 1503135"/>
              <a:gd name="connsiteX12" fmla="*/ 166392 w 1493307"/>
              <a:gd name="connsiteY12" fmla="*/ 1319442 h 1503135"/>
              <a:gd name="connsiteX13" fmla="*/ 163190 w 1493307"/>
              <a:gd name="connsiteY13" fmla="*/ 1314759 h 1503135"/>
              <a:gd name="connsiteX14" fmla="*/ 1243 w 1493307"/>
              <a:gd name="connsiteY14" fmla="*/ 791455 h 1503135"/>
              <a:gd name="connsiteX15" fmla="*/ 177526 w 1493307"/>
              <a:gd name="connsiteY15" fmla="*/ 157574 h 1503135"/>
              <a:gd name="connsiteX16" fmla="*/ 190858 w 1493307"/>
              <a:gd name="connsiteY16" fmla="*/ 142092 h 1503135"/>
              <a:gd name="connsiteX17" fmla="*/ 500272 w 1493307"/>
              <a:gd name="connsiteY17" fmla="*/ 645 h 1503135"/>
              <a:gd name="connsiteX18" fmla="*/ 509638 w 1493307"/>
              <a:gd name="connsiteY18" fmla="*/ 72 h 150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493307" h="1503135">
                <a:moveTo>
                  <a:pt x="509638" y="72"/>
                </a:moveTo>
                <a:cubicBezTo>
                  <a:pt x="694044" y="10585"/>
                  <a:pt x="914003" y="101331"/>
                  <a:pt x="1110785" y="263277"/>
                </a:cubicBezTo>
                <a:cubicBezTo>
                  <a:pt x="1283149" y="405106"/>
                  <a:pt x="1405338" y="574794"/>
                  <a:pt x="1463876" y="734876"/>
                </a:cubicBezTo>
                <a:cubicBezTo>
                  <a:pt x="1466839" y="742952"/>
                  <a:pt x="1469419" y="750885"/>
                  <a:pt x="1471713" y="758722"/>
                </a:cubicBezTo>
                <a:cubicBezTo>
                  <a:pt x="1496800" y="830305"/>
                  <a:pt x="1501006" y="909964"/>
                  <a:pt x="1479168" y="988572"/>
                </a:cubicBezTo>
                <a:lnTo>
                  <a:pt x="1479168" y="988620"/>
                </a:lnTo>
                <a:cubicBezTo>
                  <a:pt x="1459336" y="1059964"/>
                  <a:pt x="1420630" y="1120939"/>
                  <a:pt x="1369976" y="1167770"/>
                </a:cubicBezTo>
                <a:cubicBezTo>
                  <a:pt x="1368113" y="1170207"/>
                  <a:pt x="1366154" y="1172405"/>
                  <a:pt x="1363908" y="1174316"/>
                </a:cubicBezTo>
                <a:cubicBezTo>
                  <a:pt x="1292085" y="1235769"/>
                  <a:pt x="1209559" y="1292730"/>
                  <a:pt x="1118144" y="1342236"/>
                </a:cubicBezTo>
                <a:cubicBezTo>
                  <a:pt x="908268" y="1455871"/>
                  <a:pt x="691129" y="1508818"/>
                  <a:pt x="509112" y="1502654"/>
                </a:cubicBezTo>
                <a:cubicBezTo>
                  <a:pt x="488899" y="1501984"/>
                  <a:pt x="469832" y="1499834"/>
                  <a:pt x="451912" y="1496441"/>
                </a:cubicBezTo>
                <a:cubicBezTo>
                  <a:pt x="430791" y="1494243"/>
                  <a:pt x="409574" y="1490277"/>
                  <a:pt x="388405" y="1484400"/>
                </a:cubicBezTo>
                <a:cubicBezTo>
                  <a:pt x="292689" y="1457831"/>
                  <a:pt x="215563" y="1397286"/>
                  <a:pt x="166392" y="1319442"/>
                </a:cubicBezTo>
                <a:cubicBezTo>
                  <a:pt x="165340" y="1317865"/>
                  <a:pt x="164241" y="1316336"/>
                  <a:pt x="163190" y="1314759"/>
                </a:cubicBezTo>
                <a:cubicBezTo>
                  <a:pt x="70820" y="1176085"/>
                  <a:pt x="10514" y="993542"/>
                  <a:pt x="1243" y="791455"/>
                </a:cubicBezTo>
                <a:cubicBezTo>
                  <a:pt x="-10274" y="540961"/>
                  <a:pt x="59064" y="313166"/>
                  <a:pt x="177526" y="157574"/>
                </a:cubicBezTo>
                <a:cubicBezTo>
                  <a:pt x="182017" y="151649"/>
                  <a:pt x="186462" y="146536"/>
                  <a:pt x="190858" y="142092"/>
                </a:cubicBezTo>
                <a:cubicBezTo>
                  <a:pt x="265547" y="50534"/>
                  <a:pt x="379947" y="-2986"/>
                  <a:pt x="500272" y="645"/>
                </a:cubicBezTo>
                <a:cubicBezTo>
                  <a:pt x="503426" y="72"/>
                  <a:pt x="506532" y="-119"/>
                  <a:pt x="509638" y="72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8" name="Team member name 1">
            <a:extLst>
              <a:ext uri="{FF2B5EF4-FFF2-40B4-BE49-F238E27FC236}">
                <a16:creationId xmlns:a16="http://schemas.microsoft.com/office/drawing/2014/main" id="{3C6F509A-88A6-938D-C020-8843B3FF0FD4}"/>
              </a:ext>
            </a:extLst>
          </p:cNvPr>
          <p:cNvSpPr txBox="1">
            <a:spLocks noGrp="1"/>
          </p:cNvSpPr>
          <p:nvPr userDrawn="1">
            <p:ph type="body" idx="10"/>
          </p:nvPr>
        </p:nvSpPr>
        <p:spPr>
          <a:xfrm>
            <a:off x="1010263" y="5201383"/>
            <a:ext cx="2953265" cy="705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2000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9" name="Team member title 1">
            <a:extLst>
              <a:ext uri="{FF2B5EF4-FFF2-40B4-BE49-F238E27FC236}">
                <a16:creationId xmlns:a16="http://schemas.microsoft.com/office/drawing/2014/main" id="{BFC3CAB5-6F06-088C-1962-C0A377E709F8}"/>
              </a:ext>
            </a:extLst>
          </p:cNvPr>
          <p:cNvSpPr txBox="1">
            <a:spLocks noGrp="1"/>
          </p:cNvSpPr>
          <p:nvPr userDrawn="1">
            <p:ph type="body" idx="11"/>
          </p:nvPr>
        </p:nvSpPr>
        <p:spPr>
          <a:xfrm>
            <a:off x="1010263" y="5619288"/>
            <a:ext cx="2953265" cy="568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400" b="1" i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721" name="Team member image slot 2"/>
          <p:cNvSpPr>
            <a:spLocks noGrp="1"/>
          </p:cNvSpPr>
          <p:nvPr>
            <p:ph type="pic" idx="21"/>
          </p:nvPr>
        </p:nvSpPr>
        <p:spPr>
          <a:xfrm>
            <a:off x="1453422" y="2645540"/>
            <a:ext cx="2239749" cy="2160997"/>
          </a:xfrm>
          <a:custGeom>
            <a:avLst/>
            <a:gdLst>
              <a:gd name="connsiteX0" fmla="*/ 453836 w 1452080"/>
              <a:gd name="connsiteY0" fmla="*/ 249 h 1401023"/>
              <a:gd name="connsiteX1" fmla="*/ 931930 w 1452080"/>
              <a:gd name="connsiteY1" fmla="*/ 103634 h 1401023"/>
              <a:gd name="connsiteX2" fmla="*/ 1373758 w 1452080"/>
              <a:gd name="connsiteY2" fmla="*/ 444348 h 1401023"/>
              <a:gd name="connsiteX3" fmla="*/ 1386947 w 1452080"/>
              <a:gd name="connsiteY3" fmla="*/ 464131 h 1401023"/>
              <a:gd name="connsiteX4" fmla="*/ 1452032 w 1452080"/>
              <a:gd name="connsiteY4" fmla="*/ 671953 h 1401023"/>
              <a:gd name="connsiteX5" fmla="*/ 1452080 w 1452080"/>
              <a:gd name="connsiteY5" fmla="*/ 671857 h 1401023"/>
              <a:gd name="connsiteX6" fmla="*/ 1397938 w 1452080"/>
              <a:gd name="connsiteY6" fmla="*/ 863048 h 1401023"/>
              <a:gd name="connsiteX7" fmla="*/ 1394068 w 1452080"/>
              <a:gd name="connsiteY7" fmla="*/ 870599 h 1401023"/>
              <a:gd name="connsiteX8" fmla="*/ 1212433 w 1452080"/>
              <a:gd name="connsiteY8" fmla="*/ 1086161 h 1401023"/>
              <a:gd name="connsiteX9" fmla="*/ 697444 w 1452080"/>
              <a:gd name="connsiteY9" fmla="*/ 1387069 h 1401023"/>
              <a:gd name="connsiteX10" fmla="*/ 643637 w 1452080"/>
              <a:gd name="connsiteY10" fmla="*/ 1395909 h 1401023"/>
              <a:gd name="connsiteX11" fmla="*/ 582614 w 1452080"/>
              <a:gd name="connsiteY11" fmla="*/ 1401023 h 1401023"/>
              <a:gd name="connsiteX12" fmla="*/ 338189 w 1452080"/>
              <a:gd name="connsiteY12" fmla="*/ 1306836 h 1401023"/>
              <a:gd name="connsiteX13" fmla="*/ 334079 w 1452080"/>
              <a:gd name="connsiteY13" fmla="*/ 1303396 h 1401023"/>
              <a:gd name="connsiteX14" fmla="*/ 53528 w 1452080"/>
              <a:gd name="connsiteY14" fmla="*/ 867015 h 1401023"/>
              <a:gd name="connsiteX15" fmla="*/ 53528 w 1452080"/>
              <a:gd name="connsiteY15" fmla="*/ 243934 h 1401023"/>
              <a:gd name="connsiteX16" fmla="*/ 61795 w 1452080"/>
              <a:gd name="connsiteY16" fmla="*/ 226444 h 1401023"/>
              <a:gd name="connsiteX17" fmla="*/ 308227 w 1452080"/>
              <a:gd name="connsiteY17" fmla="*/ 18862 h 1401023"/>
              <a:gd name="connsiteX18" fmla="*/ 316638 w 1452080"/>
              <a:gd name="connsiteY18" fmla="*/ 15995 h 1401023"/>
              <a:gd name="connsiteX19" fmla="*/ 453836 w 1452080"/>
              <a:gd name="connsiteY19" fmla="*/ 249 h 14010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452080" h="1401023">
                <a:moveTo>
                  <a:pt x="453836" y="249"/>
                </a:moveTo>
                <a:cubicBezTo>
                  <a:pt x="599196" y="-3257"/>
                  <a:pt x="766423" y="30271"/>
                  <a:pt x="931930" y="103634"/>
                </a:cubicBezTo>
                <a:cubicBezTo>
                  <a:pt x="1125176" y="189315"/>
                  <a:pt x="1279716" y="313128"/>
                  <a:pt x="1373758" y="444348"/>
                </a:cubicBezTo>
                <a:cubicBezTo>
                  <a:pt x="1378489" y="450942"/>
                  <a:pt x="1382886" y="457537"/>
                  <a:pt x="1386947" y="464131"/>
                </a:cubicBezTo>
                <a:cubicBezTo>
                  <a:pt x="1427948" y="523052"/>
                  <a:pt x="1452032" y="594683"/>
                  <a:pt x="1452032" y="671953"/>
                </a:cubicBezTo>
                <a:lnTo>
                  <a:pt x="1452080" y="671857"/>
                </a:lnTo>
                <a:cubicBezTo>
                  <a:pt x="1452080" y="742007"/>
                  <a:pt x="1432248" y="807474"/>
                  <a:pt x="1397938" y="863048"/>
                </a:cubicBezTo>
                <a:cubicBezTo>
                  <a:pt x="1396887" y="865773"/>
                  <a:pt x="1395596" y="868305"/>
                  <a:pt x="1394068" y="870599"/>
                </a:cubicBezTo>
                <a:cubicBezTo>
                  <a:pt x="1344131" y="944858"/>
                  <a:pt x="1283300" y="1017779"/>
                  <a:pt x="1212433" y="1086161"/>
                </a:cubicBezTo>
                <a:cubicBezTo>
                  <a:pt x="1049817" y="1243090"/>
                  <a:pt x="865077" y="1346499"/>
                  <a:pt x="697444" y="1387069"/>
                </a:cubicBezTo>
                <a:cubicBezTo>
                  <a:pt x="678759" y="1391561"/>
                  <a:pt x="660888" y="1394476"/>
                  <a:pt x="643637" y="1395909"/>
                </a:cubicBezTo>
                <a:cubicBezTo>
                  <a:pt x="623758" y="1399255"/>
                  <a:pt x="603401" y="1401023"/>
                  <a:pt x="582614" y="1401023"/>
                </a:cubicBezTo>
                <a:cubicBezTo>
                  <a:pt x="488571" y="1401023"/>
                  <a:pt x="402844" y="1365375"/>
                  <a:pt x="338189" y="1306836"/>
                </a:cubicBezTo>
                <a:cubicBezTo>
                  <a:pt x="336803" y="1305690"/>
                  <a:pt x="335465" y="1304591"/>
                  <a:pt x="334079" y="1303396"/>
                </a:cubicBezTo>
                <a:cubicBezTo>
                  <a:pt x="214615" y="1200322"/>
                  <a:pt x="113261" y="1049031"/>
                  <a:pt x="53528" y="867015"/>
                </a:cubicBezTo>
                <a:cubicBezTo>
                  <a:pt x="-20540" y="641417"/>
                  <a:pt x="-15093" y="415963"/>
                  <a:pt x="53528" y="243934"/>
                </a:cubicBezTo>
                <a:cubicBezTo>
                  <a:pt x="56156" y="237435"/>
                  <a:pt x="58880" y="231605"/>
                  <a:pt x="61795" y="226444"/>
                </a:cubicBezTo>
                <a:cubicBezTo>
                  <a:pt x="106714" y="123944"/>
                  <a:pt x="197507" y="46100"/>
                  <a:pt x="308227" y="18862"/>
                </a:cubicBezTo>
                <a:cubicBezTo>
                  <a:pt x="310999" y="17572"/>
                  <a:pt x="313771" y="16616"/>
                  <a:pt x="316638" y="15995"/>
                </a:cubicBezTo>
                <a:cubicBezTo>
                  <a:pt x="359358" y="6701"/>
                  <a:pt x="405382" y="1417"/>
                  <a:pt x="453836" y="249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722" name="Team member image slot 3"/>
          <p:cNvSpPr>
            <a:spLocks noGrp="1"/>
          </p:cNvSpPr>
          <p:nvPr>
            <p:ph type="pic" idx="22"/>
          </p:nvPr>
        </p:nvSpPr>
        <p:spPr>
          <a:xfrm>
            <a:off x="4869519" y="2713516"/>
            <a:ext cx="2250407" cy="2096598"/>
          </a:xfrm>
          <a:custGeom>
            <a:avLst/>
            <a:gdLst>
              <a:gd name="connsiteX0" fmla="*/ 1072754 w 1533806"/>
              <a:gd name="connsiteY0" fmla="*/ 2217 h 1428975"/>
              <a:gd name="connsiteX1" fmla="*/ 1204888 w 1533806"/>
              <a:gd name="connsiteY1" fmla="*/ 20777 h 1428975"/>
              <a:gd name="connsiteX2" fmla="*/ 1229211 w 1533806"/>
              <a:gd name="connsiteY2" fmla="*/ 27037 h 1428975"/>
              <a:gd name="connsiteX3" fmla="*/ 1426759 w 1533806"/>
              <a:gd name="connsiteY3" fmla="*/ 144734 h 1428975"/>
              <a:gd name="connsiteX4" fmla="*/ 1518746 w 1533806"/>
              <a:gd name="connsiteY4" fmla="*/ 333297 h 1428975"/>
              <a:gd name="connsiteX5" fmla="*/ 1520993 w 1533806"/>
              <a:gd name="connsiteY5" fmla="*/ 341946 h 1428975"/>
              <a:gd name="connsiteX6" fmla="*/ 1529833 w 1533806"/>
              <a:gd name="connsiteY6" fmla="*/ 639462 h 1428975"/>
              <a:gd name="connsiteX7" fmla="*/ 1336491 w 1533806"/>
              <a:gd name="connsiteY7" fmla="*/ 1238840 h 1428975"/>
              <a:gd name="connsiteX8" fmla="*/ 1300413 w 1533806"/>
              <a:gd name="connsiteY8" fmla="*/ 1283664 h 1428975"/>
              <a:gd name="connsiteX9" fmla="*/ 1256020 w 1533806"/>
              <a:gd name="connsiteY9" fmla="*/ 1330637 h 1428975"/>
              <a:gd name="connsiteX10" fmla="*/ 997354 w 1533806"/>
              <a:gd name="connsiteY10" fmla="*/ 1428646 h 1428975"/>
              <a:gd name="connsiteX11" fmla="*/ 991715 w 1533806"/>
              <a:gd name="connsiteY11" fmla="*/ 1428837 h 1428975"/>
              <a:gd name="connsiteX12" fmla="*/ 463680 w 1533806"/>
              <a:gd name="connsiteY12" fmla="*/ 1283043 h 1428975"/>
              <a:gd name="connsiteX13" fmla="*/ 24958 w 1533806"/>
              <a:gd name="connsiteY13" fmla="*/ 792759 h 1428975"/>
              <a:gd name="connsiteX14" fmla="*/ 19128 w 1533806"/>
              <a:gd name="connsiteY14" fmla="*/ 773167 h 1428975"/>
              <a:gd name="connsiteX15" fmla="*/ 66866 w 1533806"/>
              <a:gd name="connsiteY15" fmla="*/ 436276 h 1428975"/>
              <a:gd name="connsiteX16" fmla="*/ 71453 w 1533806"/>
              <a:gd name="connsiteY16" fmla="*/ 428105 h 1428975"/>
              <a:gd name="connsiteX17" fmla="*/ 617360 w 1533806"/>
              <a:gd name="connsiteY17" fmla="*/ 63785 h 1428975"/>
              <a:gd name="connsiteX18" fmla="*/ 1072754 w 1533806"/>
              <a:gd name="connsiteY18" fmla="*/ 2217 h 1428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533806" h="1428975">
                <a:moveTo>
                  <a:pt x="1072754" y="2217"/>
                </a:moveTo>
                <a:cubicBezTo>
                  <a:pt x="1119044" y="5285"/>
                  <a:pt x="1163291" y="11519"/>
                  <a:pt x="1204888" y="20777"/>
                </a:cubicBezTo>
                <a:cubicBezTo>
                  <a:pt x="1213299" y="22640"/>
                  <a:pt x="1221374" y="24743"/>
                  <a:pt x="1229211" y="27037"/>
                </a:cubicBezTo>
                <a:cubicBezTo>
                  <a:pt x="1302993" y="44527"/>
                  <a:pt x="1372378" y="83950"/>
                  <a:pt x="1426759" y="144734"/>
                </a:cubicBezTo>
                <a:cubicBezTo>
                  <a:pt x="1476121" y="199927"/>
                  <a:pt x="1506609" y="265393"/>
                  <a:pt x="1518746" y="333297"/>
                </a:cubicBezTo>
                <a:cubicBezTo>
                  <a:pt x="1519798" y="336164"/>
                  <a:pt x="1520610" y="339032"/>
                  <a:pt x="1520993" y="341946"/>
                </a:cubicBezTo>
                <a:cubicBezTo>
                  <a:pt x="1533943" y="435559"/>
                  <a:pt x="1537431" y="535766"/>
                  <a:pt x="1529833" y="639462"/>
                </a:cubicBezTo>
                <a:cubicBezTo>
                  <a:pt x="1512391" y="877483"/>
                  <a:pt x="1439852" y="1088888"/>
                  <a:pt x="1336491" y="1238840"/>
                </a:cubicBezTo>
                <a:cubicBezTo>
                  <a:pt x="1325022" y="1255518"/>
                  <a:pt x="1312980" y="1270379"/>
                  <a:pt x="1300413" y="1283664"/>
                </a:cubicBezTo>
                <a:cubicBezTo>
                  <a:pt x="1287176" y="1300246"/>
                  <a:pt x="1272362" y="1316015"/>
                  <a:pt x="1256020" y="1330637"/>
                </a:cubicBezTo>
                <a:cubicBezTo>
                  <a:pt x="1181999" y="1396869"/>
                  <a:pt x="1089438" y="1429220"/>
                  <a:pt x="997354" y="1428646"/>
                </a:cubicBezTo>
                <a:cubicBezTo>
                  <a:pt x="995491" y="1428694"/>
                  <a:pt x="993627" y="1428837"/>
                  <a:pt x="991715" y="1428837"/>
                </a:cubicBezTo>
                <a:cubicBezTo>
                  <a:pt x="825133" y="1431896"/>
                  <a:pt x="638864" y="1384205"/>
                  <a:pt x="463680" y="1283043"/>
                </a:cubicBezTo>
                <a:cubicBezTo>
                  <a:pt x="246541" y="1157652"/>
                  <a:pt x="92097" y="976448"/>
                  <a:pt x="24958" y="792759"/>
                </a:cubicBezTo>
                <a:cubicBezTo>
                  <a:pt x="22425" y="785782"/>
                  <a:pt x="20466" y="779283"/>
                  <a:pt x="19128" y="773167"/>
                </a:cubicBezTo>
                <a:cubicBezTo>
                  <a:pt x="-17715" y="660822"/>
                  <a:pt x="-1085" y="535670"/>
                  <a:pt x="66866" y="436276"/>
                </a:cubicBezTo>
                <a:cubicBezTo>
                  <a:pt x="68109" y="433361"/>
                  <a:pt x="69638" y="430589"/>
                  <a:pt x="71453" y="428105"/>
                </a:cubicBezTo>
                <a:cubicBezTo>
                  <a:pt x="179737" y="278534"/>
                  <a:pt x="374799" y="142249"/>
                  <a:pt x="617360" y="63785"/>
                </a:cubicBezTo>
                <a:cubicBezTo>
                  <a:pt x="776631" y="12283"/>
                  <a:pt x="933886" y="-6990"/>
                  <a:pt x="1072754" y="2217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20" name="Team member name 2">
            <a:extLst>
              <a:ext uri="{FF2B5EF4-FFF2-40B4-BE49-F238E27FC236}">
                <a16:creationId xmlns:a16="http://schemas.microsoft.com/office/drawing/2014/main" id="{B6E7E961-E6AD-A21F-DD84-1C237ED77AFF}"/>
              </a:ext>
            </a:extLst>
          </p:cNvPr>
          <p:cNvSpPr txBox="1">
            <a:spLocks noGrp="1"/>
          </p:cNvSpPr>
          <p:nvPr userDrawn="1">
            <p:ph type="body" idx="12"/>
          </p:nvPr>
        </p:nvSpPr>
        <p:spPr>
          <a:xfrm>
            <a:off x="4518091" y="5201383"/>
            <a:ext cx="2953265" cy="705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2000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21" name="Team member title 2">
            <a:extLst>
              <a:ext uri="{FF2B5EF4-FFF2-40B4-BE49-F238E27FC236}">
                <a16:creationId xmlns:a16="http://schemas.microsoft.com/office/drawing/2014/main" id="{39E952A2-DC54-FE65-B341-C104FBB67A63}"/>
              </a:ext>
            </a:extLst>
          </p:cNvPr>
          <p:cNvSpPr txBox="1">
            <a:spLocks noGrp="1"/>
          </p:cNvSpPr>
          <p:nvPr userDrawn="1">
            <p:ph type="body" idx="13"/>
          </p:nvPr>
        </p:nvSpPr>
        <p:spPr>
          <a:xfrm>
            <a:off x="4518091" y="5619288"/>
            <a:ext cx="2953265" cy="568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400" b="1" i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22" name="Team member name 3">
            <a:extLst>
              <a:ext uri="{FF2B5EF4-FFF2-40B4-BE49-F238E27FC236}">
                <a16:creationId xmlns:a16="http://schemas.microsoft.com/office/drawing/2014/main" id="{997DD21F-C3D3-6934-E9C8-824080E296F9}"/>
              </a:ext>
            </a:extLst>
          </p:cNvPr>
          <p:cNvSpPr txBox="1">
            <a:spLocks noGrp="1"/>
          </p:cNvSpPr>
          <p:nvPr userDrawn="1">
            <p:ph type="body" idx="14"/>
          </p:nvPr>
        </p:nvSpPr>
        <p:spPr>
          <a:xfrm>
            <a:off x="8025919" y="5243840"/>
            <a:ext cx="2953265" cy="705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2000" b="1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23" name="Team member title 3">
            <a:extLst>
              <a:ext uri="{FF2B5EF4-FFF2-40B4-BE49-F238E27FC236}">
                <a16:creationId xmlns:a16="http://schemas.microsoft.com/office/drawing/2014/main" id="{DDAF9FDD-3E58-01B3-947E-E7E63BAE9BED}"/>
              </a:ext>
            </a:extLst>
          </p:cNvPr>
          <p:cNvSpPr txBox="1">
            <a:spLocks noGrp="1"/>
          </p:cNvSpPr>
          <p:nvPr userDrawn="1">
            <p:ph type="body" idx="15"/>
          </p:nvPr>
        </p:nvSpPr>
        <p:spPr>
          <a:xfrm>
            <a:off x="8025919" y="5661745"/>
            <a:ext cx="2953265" cy="568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400" b="1" i="1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 typeface="Arial" panose="020B0604020202020204" pitchFamily="34" charset="0"/>
              <a:buNone/>
            </a:pPr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pic>
        <p:nvPicPr>
          <p:cNvPr id="24" name="Graphic 23" descr="Photo of Mint Group team members at work">
            <a:extLst>
              <a:ext uri="{FF2B5EF4-FFF2-40B4-BE49-F238E27FC236}">
                <a16:creationId xmlns:a16="http://schemas.microsoft.com/office/drawing/2014/main" id="{73F3395A-DAA4-AD1D-CBDC-9077B0197D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2882" y="5650810"/>
            <a:ext cx="905271" cy="905271"/>
          </a:xfrm>
          <a:prstGeom prst="rect">
            <a:avLst/>
          </a:prstGeom>
        </p:spPr>
      </p:pic>
      <p:pic>
        <p:nvPicPr>
          <p:cNvPr id="25" name="Graphic 24" descr="Photo of Mint Group team members at work">
            <a:extLst>
              <a:ext uri="{FF2B5EF4-FFF2-40B4-BE49-F238E27FC236}">
                <a16:creationId xmlns:a16="http://schemas.microsoft.com/office/drawing/2014/main" id="{992271E1-F514-18AC-D4CF-340E5D84D64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4784349">
            <a:off x="1341866" y="2338348"/>
            <a:ext cx="2506094" cy="2767146"/>
          </a:xfrm>
          <a:prstGeom prst="rect">
            <a:avLst/>
          </a:prstGeom>
        </p:spPr>
      </p:pic>
      <p:pic>
        <p:nvPicPr>
          <p:cNvPr id="26" name="Graphic 25" descr="Photo of Mint Group team members at work">
            <a:extLst>
              <a:ext uri="{FF2B5EF4-FFF2-40B4-BE49-F238E27FC236}">
                <a16:creationId xmlns:a16="http://schemas.microsoft.com/office/drawing/2014/main" id="{BABF70BC-27F3-F9A0-07CA-4C87CAC637D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4753557">
            <a:off x="8249504" y="2473949"/>
            <a:ext cx="2506094" cy="2767146"/>
          </a:xfrm>
          <a:prstGeom prst="rect">
            <a:avLst/>
          </a:prstGeom>
        </p:spPr>
      </p:pic>
      <p:pic>
        <p:nvPicPr>
          <p:cNvPr id="27" name="Graphic 26" descr="Photo of Mint Group team members at work">
            <a:extLst>
              <a:ext uri="{FF2B5EF4-FFF2-40B4-BE49-F238E27FC236}">
                <a16:creationId xmlns:a16="http://schemas.microsoft.com/office/drawing/2014/main" id="{F216D984-8D41-C881-EC79-FE2CF64666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4810883" y="2417177"/>
            <a:ext cx="2506094" cy="2767146"/>
          </a:xfrm>
          <a:prstGeom prst="rect">
            <a:avLst/>
          </a:prstGeom>
        </p:spPr>
      </p:pic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bg1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pPr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bg1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20933826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– Body + C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Top Corners Rounded 10">
            <a:extLst>
              <a:ext uri="{FF2B5EF4-FFF2-40B4-BE49-F238E27FC236}">
                <a16:creationId xmlns:a16="http://schemas.microsoft.com/office/drawing/2014/main" id="{923ED58B-CE58-5EDE-0893-C66E42D98A55}"/>
              </a:ext>
            </a:extLst>
          </p:cNvPr>
          <p:cNvSpPr/>
          <p:nvPr userDrawn="1"/>
        </p:nvSpPr>
        <p:spPr>
          <a:xfrm rot="5400000">
            <a:off x="4846943" y="-770038"/>
            <a:ext cx="5495925" cy="8398078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" name="Content Placeholder 8" descr="Photo of Mint Group team members at work">
            <a:extLst>
              <a:ext uri="{FF2B5EF4-FFF2-40B4-BE49-F238E27FC236}">
                <a16:creationId xmlns:a16="http://schemas.microsoft.com/office/drawing/2014/main" id="{90EF20E8-608B-489A-30EE-9D9C8701B1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09" r="24039"/>
          <a:stretch>
            <a:fillRect/>
          </a:stretch>
        </p:blipFill>
        <p:spPr>
          <a:xfrm>
            <a:off x="0" y="681037"/>
            <a:ext cx="3717325" cy="5495926"/>
          </a:xfrm>
          <a:custGeom>
            <a:avLst/>
            <a:gdLst>
              <a:gd name="connsiteX0" fmla="*/ 0 w 3717325"/>
              <a:gd name="connsiteY0" fmla="*/ 0 h 5495926"/>
              <a:gd name="connsiteX1" fmla="*/ 3717325 w 3717325"/>
              <a:gd name="connsiteY1" fmla="*/ 0 h 5495926"/>
              <a:gd name="connsiteX2" fmla="*/ 3717325 w 3717325"/>
              <a:gd name="connsiteY2" fmla="*/ 5495926 h 5495926"/>
              <a:gd name="connsiteX3" fmla="*/ 0 w 3717325"/>
              <a:gd name="connsiteY3" fmla="*/ 5495926 h 5495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17325" h="5495926">
                <a:moveTo>
                  <a:pt x="0" y="0"/>
                </a:moveTo>
                <a:lnTo>
                  <a:pt x="3717325" y="0"/>
                </a:lnTo>
                <a:lnTo>
                  <a:pt x="3717325" y="5495926"/>
                </a:lnTo>
                <a:lnTo>
                  <a:pt x="0" y="5495926"/>
                </a:lnTo>
                <a:close/>
              </a:path>
            </a:pathLst>
          </a:custGeom>
        </p:spPr>
      </p:pic>
      <p:sp>
        <p:nvSpPr>
          <p:cNvPr id="6" name="Body 3">
            <a:extLst>
              <a:ext uri="{FF2B5EF4-FFF2-40B4-BE49-F238E27FC236}">
                <a16:creationId xmlns:a16="http://schemas.microsoft.com/office/drawing/2014/main" id="{32583BBE-D5C9-6DB3-4B21-E594B2B5245B}"/>
              </a:ext>
            </a:extLst>
          </p:cNvPr>
          <p:cNvSpPr txBox="1">
            <a:spLocks noGrp="1"/>
          </p:cNvSpPr>
          <p:nvPr userDrawn="1">
            <p:ph type="body" idx="3"/>
          </p:nvPr>
        </p:nvSpPr>
        <p:spPr>
          <a:xfrm>
            <a:off x="4270938" y="3543667"/>
            <a:ext cx="6529312" cy="138499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bg1"/>
                </a:solidFill>
              </a:rPr>
              <a:t>Click to edit Master text styles</a:t>
            </a:r>
          </a:p>
        </p:txBody>
      </p:sp>
      <p:pic>
        <p:nvPicPr>
          <p:cNvPr id="10" name="Graphic 9" descr="Photo of Mint Group team members at work">
            <a:extLst>
              <a:ext uri="{FF2B5EF4-FFF2-40B4-BE49-F238E27FC236}">
                <a16:creationId xmlns:a16="http://schemas.microsoft.com/office/drawing/2014/main" id="{36C68EFE-E55B-7673-F9D4-B302FB6AB0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693" y="5116444"/>
            <a:ext cx="905271" cy="905271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3A51666E-FCA2-5DF6-5976-44DB466F2FDD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4270938" y="1581527"/>
            <a:ext cx="7040880" cy="1188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32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 sz="3200">
                <a:solidFill>
                  <a:schemeClr val="bg1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3200" dirty="0">
              <a:solidFill>
                <a:schemeClr val="bg1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14" name="Subheading 2">
            <a:extLst>
              <a:ext uri="{FF2B5EF4-FFF2-40B4-BE49-F238E27FC236}">
                <a16:creationId xmlns:a16="http://schemas.microsoft.com/office/drawing/2014/main" id="{8A71FC67-14B4-7BA8-2028-08D2DC88220C}"/>
              </a:ext>
            </a:extLst>
          </p:cNvPr>
          <p:cNvSpPr txBox="1">
            <a:spLocks noGrp="1"/>
          </p:cNvSpPr>
          <p:nvPr userDrawn="1">
            <p:ph type="body" idx="2"/>
          </p:nvPr>
        </p:nvSpPr>
        <p:spPr>
          <a:xfrm>
            <a:off x="4270938" y="2872822"/>
            <a:ext cx="7037427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600" b="1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1600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427DE2-F2A9-E456-6531-07C609ABCD46}"/>
              </a:ext>
            </a:extLst>
          </p:cNvPr>
          <p:cNvSpPr/>
          <p:nvPr userDrawn="1"/>
        </p:nvSpPr>
        <p:spPr>
          <a:xfrm>
            <a:off x="8163722" y="5301886"/>
            <a:ext cx="4257440" cy="534388"/>
          </a:xfrm>
          <a:prstGeom prst="roundRect">
            <a:avLst>
              <a:gd name="adj" fmla="val 50000"/>
            </a:avLst>
          </a:prstGeom>
          <a:solidFill>
            <a:srgbClr val="65A1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7" name="CTA 4">
            <a:extLst>
              <a:ext uri="{FF2B5EF4-FFF2-40B4-BE49-F238E27FC236}">
                <a16:creationId xmlns:a16="http://schemas.microsoft.com/office/drawing/2014/main" id="{9B2562E8-1493-99AC-D3C8-1BD0962DE997}"/>
              </a:ext>
            </a:extLst>
          </p:cNvPr>
          <p:cNvSpPr txBox="1">
            <a:spLocks noGrp="1"/>
          </p:cNvSpPr>
          <p:nvPr userDrawn="1">
            <p:ph type="body" idx="4"/>
          </p:nvPr>
        </p:nvSpPr>
        <p:spPr>
          <a:xfrm>
            <a:off x="6773730" y="5348399"/>
            <a:ext cx="7037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</a:defRPr>
            </a:lvl1pPr>
          </a:lstStyle>
          <a:p>
            <a:pPr lvl="0" algn="ctr"/>
            <a:r>
              <a:rPr lang="en-US" sz="2000" b="1" i="0">
                <a:solidFill>
                  <a:schemeClr val="bg1"/>
                </a:solidFill>
              </a:rPr>
              <a:t>Click to edit Master text styles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C80411E-0FC2-A0D1-31E4-8904A5198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V="1">
            <a:off x="0" y="6666119"/>
            <a:ext cx="12192000" cy="191881"/>
          </a:xfrm>
          <a:prstGeom prst="rect">
            <a:avLst/>
          </a:prstGeom>
        </p:spPr>
      </p:pic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20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4248494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3 –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3A9D1A-4BFD-167D-422A-C3817A8FB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" y="0"/>
            <a:ext cx="12190815" cy="6858000"/>
          </a:xfrm>
          <a:prstGeom prst="rect">
            <a:avLst/>
          </a:prstGeom>
        </p:spPr>
      </p:pic>
      <p:pic>
        <p:nvPicPr>
          <p:cNvPr id="17" name="Graphic 16" descr="Photo of Mint Group team members at work">
            <a:extLst>
              <a:ext uri="{FF2B5EF4-FFF2-40B4-BE49-F238E27FC236}">
                <a16:creationId xmlns:a16="http://schemas.microsoft.com/office/drawing/2014/main" id="{F9CB6BE9-AFA9-2A99-F3CE-1D4D65AE96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551" y="5822185"/>
            <a:ext cx="905271" cy="905271"/>
          </a:xfrm>
          <a:prstGeom prst="rect">
            <a:avLst/>
          </a:prstGeom>
        </p:spPr>
      </p:pic>
      <p:pic>
        <p:nvPicPr>
          <p:cNvPr id="7" name="Graphic 6" descr="Photo of Mint Group team members at work">
            <a:extLst>
              <a:ext uri="{FF2B5EF4-FFF2-40B4-BE49-F238E27FC236}">
                <a16:creationId xmlns:a16="http://schemas.microsoft.com/office/drawing/2014/main" id="{F58BA704-FA00-2B3C-1D6F-E24782330F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4074108">
            <a:off x="7774054" y="3573736"/>
            <a:ext cx="5477610" cy="6048197"/>
          </a:xfrm>
          <a:prstGeom prst="rect">
            <a:avLst/>
          </a:prstGeom>
        </p:spPr>
      </p:pic>
      <p:pic>
        <p:nvPicPr>
          <p:cNvPr id="12" name="Picture 11" descr="Photo of Mint Group team members at work">
            <a:extLst>
              <a:ext uri="{FF2B5EF4-FFF2-40B4-BE49-F238E27FC236}">
                <a16:creationId xmlns:a16="http://schemas.microsoft.com/office/drawing/2014/main" id="{C084238E-84DA-8CF2-F84B-EA018D5CF6B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10" r="13610"/>
          <a:stretch/>
        </p:blipFill>
        <p:spPr>
          <a:xfrm>
            <a:off x="7683931" y="4469895"/>
            <a:ext cx="5191452" cy="4757965"/>
          </a:xfrm>
          <a:custGeom>
            <a:avLst/>
            <a:gdLst>
              <a:gd name="csX0" fmla="*/ 2544700 w 5191452"/>
              <a:gd name="csY0" fmla="*/ 874263 h 4757965"/>
              <a:gd name="csX1" fmla="*/ 1278456 w 5191452"/>
              <a:gd name="csY1" fmla="*/ 1216474 h 4757965"/>
              <a:gd name="csX2" fmla="*/ 1264559 w 5191452"/>
              <a:gd name="csY2" fmla="*/ 1229029 h 4757965"/>
              <a:gd name="csX3" fmla="*/ 959441 w 5191452"/>
              <a:gd name="csY3" fmla="*/ 1836755 h 4757965"/>
              <a:gd name="csX4" fmla="*/ 957998 w 5191452"/>
              <a:gd name="csY4" fmla="*/ 1877582 h 4757965"/>
              <a:gd name="csX5" fmla="*/ 1476592 w 5191452"/>
              <a:gd name="csY5" fmla="*/ 3085878 h 4757965"/>
              <a:gd name="csX6" fmla="*/ 2383899 w 5191452"/>
              <a:gd name="csY6" fmla="*/ 3698550 h 4757965"/>
              <a:gd name="csX7" fmla="*/ 2394701 w 5191452"/>
              <a:gd name="csY7" fmla="*/ 3701782 h 4757965"/>
              <a:gd name="csX8" fmla="*/ 2947133 w 5191452"/>
              <a:gd name="csY8" fmla="*/ 3680972 h 4757965"/>
              <a:gd name="csX9" fmla="*/ 3061158 w 5191452"/>
              <a:gd name="csY9" fmla="*/ 3620284 h 4757965"/>
              <a:gd name="csX10" fmla="*/ 3158064 w 5191452"/>
              <a:gd name="csY10" fmla="*/ 3558370 h 4757965"/>
              <a:gd name="csX11" fmla="*/ 3906266 w 5191452"/>
              <a:gd name="csY11" fmla="*/ 2546224 h 4757965"/>
              <a:gd name="csX12" fmla="*/ 4079120 w 5191452"/>
              <a:gd name="csY12" fmla="*/ 1977028 h 4757965"/>
              <a:gd name="csX13" fmla="*/ 4080377 w 5191452"/>
              <a:gd name="csY13" fmla="*/ 1959213 h 4757965"/>
              <a:gd name="csX14" fmla="*/ 4026298 w 5191452"/>
              <a:gd name="csY14" fmla="*/ 1543410 h 4757965"/>
              <a:gd name="csX15" fmla="*/ 3727105 w 5191452"/>
              <a:gd name="csY15" fmla="*/ 1194572 h 4757965"/>
              <a:gd name="csX16" fmla="*/ 3685021 w 5191452"/>
              <a:gd name="csY16" fmla="*/ 1167215 h 4757965"/>
              <a:gd name="csX17" fmla="*/ 2544700 w 5191452"/>
              <a:gd name="csY17" fmla="*/ 874263 h 4757965"/>
              <a:gd name="csX18" fmla="*/ 2631187 w 5191452"/>
              <a:gd name="csY18" fmla="*/ 316 h 4757965"/>
              <a:gd name="csX19" fmla="*/ 4522010 w 5191452"/>
              <a:gd name="csY19" fmla="*/ 486075 h 4757965"/>
              <a:gd name="csX20" fmla="*/ 4591793 w 5191452"/>
              <a:gd name="csY20" fmla="*/ 531437 h 4757965"/>
              <a:gd name="csX21" fmla="*/ 5087901 w 5191452"/>
              <a:gd name="csY21" fmla="*/ 1109863 h 4757965"/>
              <a:gd name="csX22" fmla="*/ 5177572 w 5191452"/>
              <a:gd name="csY22" fmla="*/ 1799328 h 4757965"/>
              <a:gd name="csX23" fmla="*/ 5175488 w 5191452"/>
              <a:gd name="csY23" fmla="*/ 1828868 h 4757965"/>
              <a:gd name="csX24" fmla="*/ 4888870 w 5191452"/>
              <a:gd name="csY24" fmla="*/ 2772681 h 4757965"/>
              <a:gd name="csX25" fmla="*/ 3648235 w 5191452"/>
              <a:gd name="csY25" fmla="*/ 4450974 h 4757965"/>
              <a:gd name="csX26" fmla="*/ 3487550 w 5191452"/>
              <a:gd name="csY26" fmla="*/ 4553637 h 4757965"/>
              <a:gd name="csX27" fmla="*/ 3298480 w 5191452"/>
              <a:gd name="csY27" fmla="*/ 4654266 h 4757965"/>
              <a:gd name="csX28" fmla="*/ 2382467 w 5191452"/>
              <a:gd name="csY28" fmla="*/ 4688772 h 4757965"/>
              <a:gd name="csX29" fmla="*/ 2364555 w 5191452"/>
              <a:gd name="csY29" fmla="*/ 4683414 h 4757965"/>
              <a:gd name="csX30" fmla="*/ 860101 w 5191452"/>
              <a:gd name="csY30" fmla="*/ 3667511 h 4757965"/>
              <a:gd name="csX31" fmla="*/ 194 w 5191452"/>
              <a:gd name="csY31" fmla="*/ 1663971 h 4757965"/>
              <a:gd name="csX32" fmla="*/ 2585 w 5191452"/>
              <a:gd name="csY32" fmla="*/ 1596274 h 4757965"/>
              <a:gd name="csX33" fmla="*/ 508518 w 5191452"/>
              <a:gd name="csY33" fmla="*/ 588572 h 4757965"/>
              <a:gd name="csX34" fmla="*/ 531562 w 5191452"/>
              <a:gd name="csY34" fmla="*/ 567754 h 4757965"/>
              <a:gd name="csX35" fmla="*/ 2631187 w 5191452"/>
              <a:gd name="csY35" fmla="*/ 316 h 47579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5191452" h="4757965">
                <a:moveTo>
                  <a:pt x="2544700" y="874263"/>
                </a:moveTo>
                <a:cubicBezTo>
                  <a:pt x="2035231" y="868313"/>
                  <a:pt x="1578887" y="1002161"/>
                  <a:pt x="1278456" y="1216474"/>
                </a:cubicBezTo>
                <a:cubicBezTo>
                  <a:pt x="1273434" y="1220024"/>
                  <a:pt x="1268771" y="1224300"/>
                  <a:pt x="1264559" y="1229029"/>
                </a:cubicBezTo>
                <a:cubicBezTo>
                  <a:pt x="1072503" y="1374001"/>
                  <a:pt x="961246" y="1600469"/>
                  <a:pt x="959441" y="1836755"/>
                </a:cubicBezTo>
                <a:cubicBezTo>
                  <a:pt x="958078" y="1849193"/>
                  <a:pt x="957647" y="1862752"/>
                  <a:pt x="957998" y="1877582"/>
                </a:cubicBezTo>
                <a:cubicBezTo>
                  <a:pt x="968115" y="2268316"/>
                  <a:pt x="1145189" y="2709983"/>
                  <a:pt x="1476592" y="3085878"/>
                </a:cubicBezTo>
                <a:cubicBezTo>
                  <a:pt x="1743961" y="3389144"/>
                  <a:pt x="2066406" y="3598185"/>
                  <a:pt x="2383899" y="3698550"/>
                </a:cubicBezTo>
                <a:cubicBezTo>
                  <a:pt x="2387520" y="3699768"/>
                  <a:pt x="2391142" y="3700685"/>
                  <a:pt x="2394701" y="3701782"/>
                </a:cubicBezTo>
                <a:cubicBezTo>
                  <a:pt x="2568763" y="3761550"/>
                  <a:pt x="2764711" y="3759257"/>
                  <a:pt x="2947133" y="3680972"/>
                </a:cubicBezTo>
                <a:cubicBezTo>
                  <a:pt x="2987408" y="3663688"/>
                  <a:pt x="3025517" y="3643258"/>
                  <a:pt x="3061158" y="3620284"/>
                </a:cubicBezTo>
                <a:cubicBezTo>
                  <a:pt x="3093430" y="3603129"/>
                  <a:pt x="3125711" y="3582652"/>
                  <a:pt x="3158064" y="3558370"/>
                </a:cubicBezTo>
                <a:cubicBezTo>
                  <a:pt x="3449412" y="3340197"/>
                  <a:pt x="3721543" y="2985976"/>
                  <a:pt x="3906266" y="2546224"/>
                </a:cubicBezTo>
                <a:cubicBezTo>
                  <a:pt x="3986741" y="2354642"/>
                  <a:pt x="4043993" y="2162604"/>
                  <a:pt x="4079120" y="1977028"/>
                </a:cubicBezTo>
                <a:cubicBezTo>
                  <a:pt x="4080253" y="1971263"/>
                  <a:pt x="4080542" y="1965314"/>
                  <a:pt x="4080377" y="1959213"/>
                </a:cubicBezTo>
                <a:cubicBezTo>
                  <a:pt x="4100659" y="1822852"/>
                  <a:pt x="4084629" y="1679415"/>
                  <a:pt x="4026298" y="1543410"/>
                </a:cubicBezTo>
                <a:cubicBezTo>
                  <a:pt x="3962026" y="1393616"/>
                  <a:pt x="3855718" y="1274722"/>
                  <a:pt x="3727105" y="1194572"/>
                </a:cubicBezTo>
                <a:cubicBezTo>
                  <a:pt x="3713721" y="1185233"/>
                  <a:pt x="3699764" y="1176104"/>
                  <a:pt x="3685021" y="1167215"/>
                </a:cubicBezTo>
                <a:cubicBezTo>
                  <a:pt x="3393440" y="991028"/>
                  <a:pt x="2990721" y="879521"/>
                  <a:pt x="2544700" y="874263"/>
                </a:cubicBezTo>
                <a:close/>
                <a:moveTo>
                  <a:pt x="2631187" y="316"/>
                </a:moveTo>
                <a:cubicBezTo>
                  <a:pt x="3370757" y="9035"/>
                  <a:pt x="4038527" y="193929"/>
                  <a:pt x="4522010" y="486075"/>
                </a:cubicBezTo>
                <a:cubicBezTo>
                  <a:pt x="4546457" y="500814"/>
                  <a:pt x="4569601" y="515952"/>
                  <a:pt x="4591793" y="531437"/>
                </a:cubicBezTo>
                <a:cubicBezTo>
                  <a:pt x="4805054" y="664338"/>
                  <a:pt x="4981327" y="861482"/>
                  <a:pt x="5087901" y="1109863"/>
                </a:cubicBezTo>
                <a:cubicBezTo>
                  <a:pt x="5184624" y="1335380"/>
                  <a:pt x="5211205" y="1573221"/>
                  <a:pt x="5177572" y="1799328"/>
                </a:cubicBezTo>
                <a:cubicBezTo>
                  <a:pt x="5177846" y="1809445"/>
                  <a:pt x="5177367" y="1819309"/>
                  <a:pt x="5175488" y="1828868"/>
                </a:cubicBezTo>
                <a:cubicBezTo>
                  <a:pt x="5117242" y="2136582"/>
                  <a:pt x="5022311" y="2455011"/>
                  <a:pt x="4888870" y="2772681"/>
                </a:cubicBezTo>
                <a:cubicBezTo>
                  <a:pt x="4582569" y="3501857"/>
                  <a:pt x="4131338" y="4089209"/>
                  <a:pt x="3648235" y="4450974"/>
                </a:cubicBezTo>
                <a:cubicBezTo>
                  <a:pt x="3594590" y="4491237"/>
                  <a:pt x="3541064" y="4525191"/>
                  <a:pt x="3487550" y="4553637"/>
                </a:cubicBezTo>
                <a:cubicBezTo>
                  <a:pt x="3428452" y="4591732"/>
                  <a:pt x="3365262" y="4625607"/>
                  <a:pt x="3298480" y="4654266"/>
                </a:cubicBezTo>
                <a:cubicBezTo>
                  <a:pt x="2996000" y="4784077"/>
                  <a:pt x="2671087" y="4787877"/>
                  <a:pt x="2382467" y="4688772"/>
                </a:cubicBezTo>
                <a:cubicBezTo>
                  <a:pt x="2376562" y="4686954"/>
                  <a:pt x="2370557" y="4685433"/>
                  <a:pt x="2364555" y="4683414"/>
                </a:cubicBezTo>
                <a:cubicBezTo>
                  <a:pt x="1838101" y="4516993"/>
                  <a:pt x="1303439" y="4170371"/>
                  <a:pt x="860101" y="3667511"/>
                </a:cubicBezTo>
                <a:cubicBezTo>
                  <a:pt x="310585" y="3044219"/>
                  <a:pt x="16967" y="2311868"/>
                  <a:pt x="194" y="1663971"/>
                </a:cubicBezTo>
                <a:cubicBezTo>
                  <a:pt x="-389" y="1639382"/>
                  <a:pt x="325" y="1616899"/>
                  <a:pt x="2585" y="1596274"/>
                </a:cubicBezTo>
                <a:cubicBezTo>
                  <a:pt x="5579" y="1204476"/>
                  <a:pt x="190059" y="828958"/>
                  <a:pt x="508518" y="588572"/>
                </a:cubicBezTo>
                <a:cubicBezTo>
                  <a:pt x="515502" y="580729"/>
                  <a:pt x="523234" y="573641"/>
                  <a:pt x="531562" y="567754"/>
                </a:cubicBezTo>
                <a:cubicBezTo>
                  <a:pt x="1029722" y="212390"/>
                  <a:pt x="1786408" y="-9550"/>
                  <a:pt x="2631187" y="316"/>
                </a:cubicBezTo>
                <a:close/>
              </a:path>
            </a:pathLst>
          </a:custGeom>
        </p:spPr>
      </p:pic>
      <p:sp>
        <p:nvSpPr>
          <p:cNvPr id="13" name="Body 3">
            <a:extLst>
              <a:ext uri="{FF2B5EF4-FFF2-40B4-BE49-F238E27FC236}">
                <a16:creationId xmlns:a16="http://schemas.microsoft.com/office/drawing/2014/main" id="{3C367AF0-237D-E184-3AF2-F5CAC3B9F19A}"/>
              </a:ext>
            </a:extLst>
          </p:cNvPr>
          <p:cNvSpPr txBox="1">
            <a:spLocks noGrp="1"/>
          </p:cNvSpPr>
          <p:nvPr userDrawn="1">
            <p:ph type="body" idx="3"/>
          </p:nvPr>
        </p:nvSpPr>
        <p:spPr>
          <a:xfrm>
            <a:off x="1191492" y="2922569"/>
            <a:ext cx="9809017" cy="9541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lvl="0" algn="ctr"/>
            <a:r>
              <a:rPr lang="en-US" sz="1400"/>
              <a:t>Click to edit Master text styles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93B85EB-31C3-05B8-08D4-23EAD09523BA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384048" y="823269"/>
            <a:ext cx="11423599" cy="18848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buNone/>
              <a:defRPr sz="5400">
                <a:solidFill>
                  <a:schemeClr val="accent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pPr algn="ctr"/>
            <a:r>
              <a:rPr lang="en-US" sz="5400">
                <a:solidFill>
                  <a:schemeClr val="accent2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8000">
              <a:solidFill>
                <a:schemeClr val="accent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15" name="Subheading 2">
            <a:extLst>
              <a:ext uri="{FF2B5EF4-FFF2-40B4-BE49-F238E27FC236}">
                <a16:creationId xmlns:a16="http://schemas.microsoft.com/office/drawing/2014/main" id="{CFA49F64-7096-E1A5-EC39-555D527CCE1E}"/>
              </a:ext>
            </a:extLst>
          </p:cNvPr>
          <p:cNvSpPr txBox="1">
            <a:spLocks noGrp="1"/>
          </p:cNvSpPr>
          <p:nvPr userDrawn="1">
            <p:ph type="body" idx="2"/>
          </p:nvPr>
        </p:nvSpPr>
        <p:spPr>
          <a:xfrm>
            <a:off x="2577287" y="2251724"/>
            <a:ext cx="7037427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 algn="ctr">
              <a:buNone/>
              <a:defRPr sz="2400" i="1">
                <a:solidFill>
                  <a:schemeClr val="accent3"/>
                </a:solidFill>
              </a:defRPr>
            </a:lvl1pPr>
          </a:lstStyle>
          <a:p>
            <a:pPr lvl="0" algn="ctr"/>
            <a:r>
              <a:rPr lang="en-US" sz="2400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878185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5 –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hoto of Mint Group team members at work">
            <a:extLst>
              <a:ext uri="{FF2B5EF4-FFF2-40B4-BE49-F238E27FC236}">
                <a16:creationId xmlns:a16="http://schemas.microsoft.com/office/drawing/2014/main" id="{3CB7A44F-6F74-4BAE-7A22-9897CB9E09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9" t="-3004" r="22735" b="-223"/>
          <a:stretch>
            <a:fillRect/>
          </a:stretch>
        </p:blipFill>
        <p:spPr>
          <a:xfrm>
            <a:off x="6636327" y="-178713"/>
            <a:ext cx="6733309" cy="6273108"/>
          </a:xfrm>
          <a:custGeom>
            <a:avLst/>
            <a:gdLst>
              <a:gd name="connsiteX0" fmla="*/ 1072754 w 1533806"/>
              <a:gd name="connsiteY0" fmla="*/ 2217 h 1428975"/>
              <a:gd name="connsiteX1" fmla="*/ 1204888 w 1533806"/>
              <a:gd name="connsiteY1" fmla="*/ 20777 h 1428975"/>
              <a:gd name="connsiteX2" fmla="*/ 1229211 w 1533806"/>
              <a:gd name="connsiteY2" fmla="*/ 27037 h 1428975"/>
              <a:gd name="connsiteX3" fmla="*/ 1426759 w 1533806"/>
              <a:gd name="connsiteY3" fmla="*/ 144734 h 1428975"/>
              <a:gd name="connsiteX4" fmla="*/ 1518746 w 1533806"/>
              <a:gd name="connsiteY4" fmla="*/ 333297 h 1428975"/>
              <a:gd name="connsiteX5" fmla="*/ 1520993 w 1533806"/>
              <a:gd name="connsiteY5" fmla="*/ 341946 h 1428975"/>
              <a:gd name="connsiteX6" fmla="*/ 1529833 w 1533806"/>
              <a:gd name="connsiteY6" fmla="*/ 639462 h 1428975"/>
              <a:gd name="connsiteX7" fmla="*/ 1336491 w 1533806"/>
              <a:gd name="connsiteY7" fmla="*/ 1238840 h 1428975"/>
              <a:gd name="connsiteX8" fmla="*/ 1300413 w 1533806"/>
              <a:gd name="connsiteY8" fmla="*/ 1283664 h 1428975"/>
              <a:gd name="connsiteX9" fmla="*/ 1256020 w 1533806"/>
              <a:gd name="connsiteY9" fmla="*/ 1330637 h 1428975"/>
              <a:gd name="connsiteX10" fmla="*/ 997354 w 1533806"/>
              <a:gd name="connsiteY10" fmla="*/ 1428646 h 1428975"/>
              <a:gd name="connsiteX11" fmla="*/ 991715 w 1533806"/>
              <a:gd name="connsiteY11" fmla="*/ 1428837 h 1428975"/>
              <a:gd name="connsiteX12" fmla="*/ 463680 w 1533806"/>
              <a:gd name="connsiteY12" fmla="*/ 1283043 h 1428975"/>
              <a:gd name="connsiteX13" fmla="*/ 24958 w 1533806"/>
              <a:gd name="connsiteY13" fmla="*/ 792759 h 1428975"/>
              <a:gd name="connsiteX14" fmla="*/ 19128 w 1533806"/>
              <a:gd name="connsiteY14" fmla="*/ 773167 h 1428975"/>
              <a:gd name="connsiteX15" fmla="*/ 66866 w 1533806"/>
              <a:gd name="connsiteY15" fmla="*/ 436276 h 1428975"/>
              <a:gd name="connsiteX16" fmla="*/ 71453 w 1533806"/>
              <a:gd name="connsiteY16" fmla="*/ 428105 h 1428975"/>
              <a:gd name="connsiteX17" fmla="*/ 617360 w 1533806"/>
              <a:gd name="connsiteY17" fmla="*/ 63785 h 1428975"/>
              <a:gd name="connsiteX18" fmla="*/ 1072754 w 1533806"/>
              <a:gd name="connsiteY18" fmla="*/ 2217 h 1428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533806" h="1428975">
                <a:moveTo>
                  <a:pt x="1072754" y="2217"/>
                </a:moveTo>
                <a:cubicBezTo>
                  <a:pt x="1119044" y="5285"/>
                  <a:pt x="1163291" y="11519"/>
                  <a:pt x="1204888" y="20777"/>
                </a:cubicBezTo>
                <a:cubicBezTo>
                  <a:pt x="1213299" y="22640"/>
                  <a:pt x="1221374" y="24743"/>
                  <a:pt x="1229211" y="27037"/>
                </a:cubicBezTo>
                <a:cubicBezTo>
                  <a:pt x="1302993" y="44527"/>
                  <a:pt x="1372378" y="83950"/>
                  <a:pt x="1426759" y="144734"/>
                </a:cubicBezTo>
                <a:cubicBezTo>
                  <a:pt x="1476121" y="199927"/>
                  <a:pt x="1506609" y="265393"/>
                  <a:pt x="1518746" y="333297"/>
                </a:cubicBezTo>
                <a:cubicBezTo>
                  <a:pt x="1519798" y="336164"/>
                  <a:pt x="1520610" y="339032"/>
                  <a:pt x="1520993" y="341946"/>
                </a:cubicBezTo>
                <a:cubicBezTo>
                  <a:pt x="1533943" y="435559"/>
                  <a:pt x="1537431" y="535766"/>
                  <a:pt x="1529833" y="639462"/>
                </a:cubicBezTo>
                <a:cubicBezTo>
                  <a:pt x="1512391" y="877483"/>
                  <a:pt x="1439852" y="1088888"/>
                  <a:pt x="1336491" y="1238840"/>
                </a:cubicBezTo>
                <a:cubicBezTo>
                  <a:pt x="1325022" y="1255518"/>
                  <a:pt x="1312980" y="1270379"/>
                  <a:pt x="1300413" y="1283664"/>
                </a:cubicBezTo>
                <a:cubicBezTo>
                  <a:pt x="1287176" y="1300246"/>
                  <a:pt x="1272362" y="1316015"/>
                  <a:pt x="1256020" y="1330637"/>
                </a:cubicBezTo>
                <a:cubicBezTo>
                  <a:pt x="1181999" y="1396869"/>
                  <a:pt x="1089438" y="1429220"/>
                  <a:pt x="997354" y="1428646"/>
                </a:cubicBezTo>
                <a:cubicBezTo>
                  <a:pt x="995491" y="1428694"/>
                  <a:pt x="993627" y="1428837"/>
                  <a:pt x="991715" y="1428837"/>
                </a:cubicBezTo>
                <a:cubicBezTo>
                  <a:pt x="825133" y="1431896"/>
                  <a:pt x="638864" y="1384205"/>
                  <a:pt x="463680" y="1283043"/>
                </a:cubicBezTo>
                <a:cubicBezTo>
                  <a:pt x="246541" y="1157652"/>
                  <a:pt x="92097" y="976448"/>
                  <a:pt x="24958" y="792759"/>
                </a:cubicBezTo>
                <a:cubicBezTo>
                  <a:pt x="22425" y="785782"/>
                  <a:pt x="20466" y="779283"/>
                  <a:pt x="19128" y="773167"/>
                </a:cubicBezTo>
                <a:cubicBezTo>
                  <a:pt x="-17715" y="660822"/>
                  <a:pt x="-1085" y="535670"/>
                  <a:pt x="66866" y="436276"/>
                </a:cubicBezTo>
                <a:cubicBezTo>
                  <a:pt x="68109" y="433361"/>
                  <a:pt x="69638" y="430589"/>
                  <a:pt x="71453" y="428105"/>
                </a:cubicBezTo>
                <a:cubicBezTo>
                  <a:pt x="179737" y="278534"/>
                  <a:pt x="374799" y="142249"/>
                  <a:pt x="617360" y="63785"/>
                </a:cubicBezTo>
                <a:cubicBezTo>
                  <a:pt x="776631" y="12283"/>
                  <a:pt x="933886" y="-6990"/>
                  <a:pt x="1072754" y="2217"/>
                </a:cubicBez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6285171-B1AB-1F64-3971-7A9A16025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67709">
            <a:off x="5742657" y="-818337"/>
            <a:ext cx="8520650" cy="7770456"/>
          </a:xfrm>
          <a:prstGeom prst="rect">
            <a:avLst/>
          </a:prstGeom>
        </p:spPr>
      </p:pic>
      <p:pic>
        <p:nvPicPr>
          <p:cNvPr id="17" name="Graphic 16" descr="Photo of Mint Group team members at work">
            <a:extLst>
              <a:ext uri="{FF2B5EF4-FFF2-40B4-BE49-F238E27FC236}">
                <a16:creationId xmlns:a16="http://schemas.microsoft.com/office/drawing/2014/main" id="{F9CB6BE9-AFA9-2A99-F3CE-1D4D65AE96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82678" y="5628222"/>
            <a:ext cx="905271" cy="905271"/>
          </a:xfrm>
          <a:prstGeom prst="rect">
            <a:avLst/>
          </a:prstGeom>
        </p:spPr>
      </p:pic>
      <p:sp>
        <p:nvSpPr>
          <p:cNvPr id="5" name="Body 3">
            <a:extLst>
              <a:ext uri="{FF2B5EF4-FFF2-40B4-BE49-F238E27FC236}">
                <a16:creationId xmlns:a16="http://schemas.microsoft.com/office/drawing/2014/main" id="{F64F7882-BB70-8CDE-6A7C-6E9DA0AD34EC}"/>
              </a:ext>
            </a:extLst>
          </p:cNvPr>
          <p:cNvSpPr txBox="1">
            <a:spLocks noGrp="1"/>
          </p:cNvSpPr>
          <p:nvPr userDrawn="1">
            <p:ph type="body" idx="3"/>
          </p:nvPr>
        </p:nvSpPr>
        <p:spPr>
          <a:xfrm>
            <a:off x="670058" y="3324011"/>
            <a:ext cx="4192885" cy="9541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 algn="l">
              <a:buNone/>
              <a:defRPr sz="1400"/>
            </a:lvl1pPr>
          </a:lstStyle>
          <a:p>
            <a:pPr lvl="0" algn="l"/>
            <a:r>
              <a:rPr lang="en-US" sz="140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7777C8-51E2-8F83-F30B-CFE82835E94B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670057" y="1270432"/>
            <a:ext cx="4829571" cy="179343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>
              <a:buNone/>
              <a:defRPr sz="5400">
                <a:solidFill>
                  <a:schemeClr val="accent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pPr algn="l"/>
            <a:r>
              <a:rPr lang="en-US" sz="5400">
                <a:solidFill>
                  <a:schemeClr val="accent2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8000">
              <a:solidFill>
                <a:schemeClr val="accent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7" name="Subheading 2">
            <a:extLst>
              <a:ext uri="{FF2B5EF4-FFF2-40B4-BE49-F238E27FC236}">
                <a16:creationId xmlns:a16="http://schemas.microsoft.com/office/drawing/2014/main" id="{9AF0E8A8-FCF0-9BF9-65E1-F0CBC15E3F9C}"/>
              </a:ext>
            </a:extLst>
          </p:cNvPr>
          <p:cNvSpPr txBox="1">
            <a:spLocks noGrp="1"/>
          </p:cNvSpPr>
          <p:nvPr userDrawn="1">
            <p:ph type="body" idx="2"/>
          </p:nvPr>
        </p:nvSpPr>
        <p:spPr>
          <a:xfrm>
            <a:off x="670057" y="2653167"/>
            <a:ext cx="7037427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 algn="l">
              <a:buNone/>
              <a:defRPr sz="2000" i="1">
                <a:solidFill>
                  <a:schemeClr val="accent3"/>
                </a:solidFill>
              </a:defRPr>
            </a:lvl1pPr>
          </a:lstStyle>
          <a:p>
            <a:pPr lvl="0" algn="l"/>
            <a:r>
              <a:rPr lang="en-US" sz="2000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0DB8512-C708-1134-9CD4-A04551AF3AB2}"/>
              </a:ext>
            </a:extLst>
          </p:cNvPr>
          <p:cNvSpPr/>
          <p:nvPr userDrawn="1"/>
        </p:nvSpPr>
        <p:spPr>
          <a:xfrm>
            <a:off x="670058" y="5032542"/>
            <a:ext cx="10081069" cy="150095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2" name="Graphic 8">
            <a:extLst>
              <a:ext uri="{FF2B5EF4-FFF2-40B4-BE49-F238E27FC236}">
                <a16:creationId xmlns:a16="http://schemas.microsoft.com/office/drawing/2014/main" id="{D719E769-29C9-C6DE-93CD-03C009735CE6}"/>
              </a:ext>
            </a:extLst>
          </p:cNvPr>
          <p:cNvSpPr/>
          <p:nvPr userDrawn="1"/>
        </p:nvSpPr>
        <p:spPr>
          <a:xfrm>
            <a:off x="4241294" y="5296044"/>
            <a:ext cx="1044518" cy="973128"/>
          </a:xfrm>
          <a:custGeom>
            <a:avLst/>
            <a:gdLst>
              <a:gd name="connsiteX0" fmla="*/ 2843906 w 3057280"/>
              <a:gd name="connsiteY0" fmla="*/ 288492 h 2848325"/>
              <a:gd name="connsiteX1" fmla="*/ 2450142 w 3057280"/>
              <a:gd name="connsiteY1" fmla="*/ 53891 h 2848325"/>
              <a:gd name="connsiteX2" fmla="*/ 2401660 w 3057280"/>
              <a:gd name="connsiteY2" fmla="*/ 41414 h 2848325"/>
              <a:gd name="connsiteX3" fmla="*/ 1230561 w 3057280"/>
              <a:gd name="connsiteY3" fmla="*/ 127139 h 2848325"/>
              <a:gd name="connsiteX4" fmla="*/ 142425 w 3057280"/>
              <a:gd name="connsiteY4" fmla="*/ 853325 h 2848325"/>
              <a:gd name="connsiteX5" fmla="*/ 133281 w 3057280"/>
              <a:gd name="connsiteY5" fmla="*/ 869613 h 2848325"/>
              <a:gd name="connsiteX6" fmla="*/ 38127 w 3057280"/>
              <a:gd name="connsiteY6" fmla="*/ 1541125 h 2848325"/>
              <a:gd name="connsiteX7" fmla="*/ 49747 w 3057280"/>
              <a:gd name="connsiteY7" fmla="*/ 1580177 h 2848325"/>
              <a:gd name="connsiteX8" fmla="*/ 924237 w 3057280"/>
              <a:gd name="connsiteY8" fmla="*/ 2557443 h 2848325"/>
              <a:gd name="connsiteX9" fmla="*/ 1976750 w 3057280"/>
              <a:gd name="connsiteY9" fmla="*/ 2848050 h 2848325"/>
              <a:gd name="connsiteX10" fmla="*/ 1987989 w 3057280"/>
              <a:gd name="connsiteY10" fmla="*/ 2847669 h 2848325"/>
              <a:gd name="connsiteX11" fmla="*/ 2503578 w 3057280"/>
              <a:gd name="connsiteY11" fmla="*/ 2652311 h 2848325"/>
              <a:gd name="connsiteX12" fmla="*/ 2592065 w 3057280"/>
              <a:gd name="connsiteY12" fmla="*/ 2558681 h 2848325"/>
              <a:gd name="connsiteX13" fmla="*/ 2663979 w 3057280"/>
              <a:gd name="connsiteY13" fmla="*/ 2469336 h 2848325"/>
              <a:gd name="connsiteX14" fmla="*/ 3049360 w 3057280"/>
              <a:gd name="connsiteY14" fmla="*/ 1274616 h 2848325"/>
              <a:gd name="connsiteX15" fmla="*/ 3031739 w 3057280"/>
              <a:gd name="connsiteY15" fmla="*/ 681589 h 2848325"/>
              <a:gd name="connsiteX16" fmla="*/ 3027262 w 3057280"/>
              <a:gd name="connsiteY16" fmla="*/ 664349 h 2848325"/>
              <a:gd name="connsiteX17" fmla="*/ 2843906 w 3057280"/>
              <a:gd name="connsiteY17" fmla="*/ 288492 h 2848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057280" h="2848325">
                <a:moveTo>
                  <a:pt x="2843906" y="288492"/>
                </a:moveTo>
                <a:cubicBezTo>
                  <a:pt x="2735511" y="167334"/>
                  <a:pt x="2597209" y="88753"/>
                  <a:pt x="2450142" y="53891"/>
                </a:cubicBezTo>
                <a:cubicBezTo>
                  <a:pt x="2434521" y="49319"/>
                  <a:pt x="2418424" y="45128"/>
                  <a:pt x="2401660" y="41414"/>
                </a:cubicBezTo>
                <a:cubicBezTo>
                  <a:pt x="2070000" y="-32405"/>
                  <a:pt x="1653852" y="-9736"/>
                  <a:pt x="1230561" y="127139"/>
                </a:cubicBezTo>
                <a:cubicBezTo>
                  <a:pt x="747072" y="283539"/>
                  <a:pt x="358262" y="555192"/>
                  <a:pt x="142425" y="853325"/>
                </a:cubicBezTo>
                <a:cubicBezTo>
                  <a:pt x="138806" y="858278"/>
                  <a:pt x="135758" y="863802"/>
                  <a:pt x="133281" y="869613"/>
                </a:cubicBezTo>
                <a:cubicBezTo>
                  <a:pt x="-2164" y="1067732"/>
                  <a:pt x="-35311" y="1317192"/>
                  <a:pt x="38127" y="1541125"/>
                </a:cubicBezTo>
                <a:cubicBezTo>
                  <a:pt x="40794" y="1553317"/>
                  <a:pt x="44699" y="1566271"/>
                  <a:pt x="49747" y="1580177"/>
                </a:cubicBezTo>
                <a:cubicBezTo>
                  <a:pt x="183573" y="1946318"/>
                  <a:pt x="491421" y="2307507"/>
                  <a:pt x="924237" y="2557443"/>
                </a:cubicBezTo>
                <a:cubicBezTo>
                  <a:pt x="1273424" y="2759087"/>
                  <a:pt x="1644708" y="2854146"/>
                  <a:pt x="1976750" y="2848050"/>
                </a:cubicBezTo>
                <a:cubicBezTo>
                  <a:pt x="1980560" y="2848050"/>
                  <a:pt x="1984275" y="2847765"/>
                  <a:pt x="1987989" y="2847669"/>
                </a:cubicBezTo>
                <a:cubicBezTo>
                  <a:pt x="2171536" y="2848812"/>
                  <a:pt x="2356035" y="2784328"/>
                  <a:pt x="2503578" y="2652311"/>
                </a:cubicBezTo>
                <a:cubicBezTo>
                  <a:pt x="2536153" y="2623165"/>
                  <a:pt x="2565680" y="2591733"/>
                  <a:pt x="2592065" y="2558681"/>
                </a:cubicBezTo>
                <a:cubicBezTo>
                  <a:pt x="2617116" y="2532201"/>
                  <a:pt x="2641119" y="2502578"/>
                  <a:pt x="2663979" y="2469336"/>
                </a:cubicBezTo>
                <a:cubicBezTo>
                  <a:pt x="2870004" y="2170442"/>
                  <a:pt x="3014594" y="1749056"/>
                  <a:pt x="3049360" y="1274616"/>
                </a:cubicBezTo>
                <a:cubicBezTo>
                  <a:pt x="3064505" y="1067923"/>
                  <a:pt x="3057552" y="868184"/>
                  <a:pt x="3031739" y="681589"/>
                </a:cubicBezTo>
                <a:cubicBezTo>
                  <a:pt x="3030977" y="675779"/>
                  <a:pt x="3029358" y="670064"/>
                  <a:pt x="3027262" y="664349"/>
                </a:cubicBezTo>
                <a:cubicBezTo>
                  <a:pt x="3003069" y="528998"/>
                  <a:pt x="2942299" y="398506"/>
                  <a:pt x="2843906" y="288492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ZA"/>
          </a:p>
        </p:txBody>
      </p:sp>
      <p:sp>
        <p:nvSpPr>
          <p:cNvPr id="133" name="Title 1">
            <a:extLst>
              <a:ext uri="{FF2B5EF4-FFF2-40B4-BE49-F238E27FC236}">
                <a16:creationId xmlns:a16="http://schemas.microsoft.com/office/drawing/2014/main" id="{E7CF6D79-3B4D-D454-BD76-71C56BBFB7C6}"/>
              </a:ext>
            </a:extLst>
          </p:cNvPr>
          <p:cNvSpPr txBox="1">
            <a:spLocks/>
          </p:cNvSpPr>
          <p:nvPr/>
        </p:nvSpPr>
        <p:spPr>
          <a:xfrm>
            <a:off x="4294284" y="5308355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 b="1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02</a:t>
            </a:r>
          </a:p>
        </p:txBody>
      </p:sp>
      <p:sp>
        <p:nvSpPr>
          <p:cNvPr id="134" name="Item Heading 10">
            <a:extLst>
              <a:ext uri="{FF2B5EF4-FFF2-40B4-BE49-F238E27FC236}">
                <a16:creationId xmlns:a16="http://schemas.microsoft.com/office/drawing/2014/main" id="{113BCCF5-0F99-2F76-3022-A0C7A60839E2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5417365" y="5336670"/>
            <a:ext cx="1923134" cy="3720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2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b="1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135" name="Item Text 11">
            <a:extLst>
              <a:ext uri="{FF2B5EF4-FFF2-40B4-BE49-F238E27FC236}">
                <a16:creationId xmlns:a16="http://schemas.microsoft.com/office/drawing/2014/main" id="{EC7467E1-0F14-7595-C928-02ECBE84B7CC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5417363" y="5708744"/>
            <a:ext cx="1923135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accent2"/>
                </a:solidFill>
              </a:rPr>
              <a:t>Click to edit Master text styles</a:t>
            </a:r>
          </a:p>
        </p:txBody>
      </p:sp>
      <p:sp>
        <p:nvSpPr>
          <p:cNvPr id="136" name="Graphic 8">
            <a:extLst>
              <a:ext uri="{FF2B5EF4-FFF2-40B4-BE49-F238E27FC236}">
                <a16:creationId xmlns:a16="http://schemas.microsoft.com/office/drawing/2014/main" id="{1B819420-1C15-B1EA-E3C0-1AF343B08F11}"/>
              </a:ext>
            </a:extLst>
          </p:cNvPr>
          <p:cNvSpPr/>
          <p:nvPr userDrawn="1"/>
        </p:nvSpPr>
        <p:spPr>
          <a:xfrm>
            <a:off x="1071014" y="5296044"/>
            <a:ext cx="1044518" cy="973128"/>
          </a:xfrm>
          <a:custGeom>
            <a:avLst/>
            <a:gdLst>
              <a:gd name="connsiteX0" fmla="*/ 2843906 w 3057280"/>
              <a:gd name="connsiteY0" fmla="*/ 288492 h 2848325"/>
              <a:gd name="connsiteX1" fmla="*/ 2450142 w 3057280"/>
              <a:gd name="connsiteY1" fmla="*/ 53891 h 2848325"/>
              <a:gd name="connsiteX2" fmla="*/ 2401660 w 3057280"/>
              <a:gd name="connsiteY2" fmla="*/ 41414 h 2848325"/>
              <a:gd name="connsiteX3" fmla="*/ 1230561 w 3057280"/>
              <a:gd name="connsiteY3" fmla="*/ 127139 h 2848325"/>
              <a:gd name="connsiteX4" fmla="*/ 142425 w 3057280"/>
              <a:gd name="connsiteY4" fmla="*/ 853325 h 2848325"/>
              <a:gd name="connsiteX5" fmla="*/ 133281 w 3057280"/>
              <a:gd name="connsiteY5" fmla="*/ 869613 h 2848325"/>
              <a:gd name="connsiteX6" fmla="*/ 38127 w 3057280"/>
              <a:gd name="connsiteY6" fmla="*/ 1541125 h 2848325"/>
              <a:gd name="connsiteX7" fmla="*/ 49747 w 3057280"/>
              <a:gd name="connsiteY7" fmla="*/ 1580177 h 2848325"/>
              <a:gd name="connsiteX8" fmla="*/ 924237 w 3057280"/>
              <a:gd name="connsiteY8" fmla="*/ 2557443 h 2848325"/>
              <a:gd name="connsiteX9" fmla="*/ 1976750 w 3057280"/>
              <a:gd name="connsiteY9" fmla="*/ 2848050 h 2848325"/>
              <a:gd name="connsiteX10" fmla="*/ 1987989 w 3057280"/>
              <a:gd name="connsiteY10" fmla="*/ 2847669 h 2848325"/>
              <a:gd name="connsiteX11" fmla="*/ 2503578 w 3057280"/>
              <a:gd name="connsiteY11" fmla="*/ 2652311 h 2848325"/>
              <a:gd name="connsiteX12" fmla="*/ 2592065 w 3057280"/>
              <a:gd name="connsiteY12" fmla="*/ 2558681 h 2848325"/>
              <a:gd name="connsiteX13" fmla="*/ 2663979 w 3057280"/>
              <a:gd name="connsiteY13" fmla="*/ 2469336 h 2848325"/>
              <a:gd name="connsiteX14" fmla="*/ 3049360 w 3057280"/>
              <a:gd name="connsiteY14" fmla="*/ 1274616 h 2848325"/>
              <a:gd name="connsiteX15" fmla="*/ 3031739 w 3057280"/>
              <a:gd name="connsiteY15" fmla="*/ 681589 h 2848325"/>
              <a:gd name="connsiteX16" fmla="*/ 3027262 w 3057280"/>
              <a:gd name="connsiteY16" fmla="*/ 664349 h 2848325"/>
              <a:gd name="connsiteX17" fmla="*/ 2843906 w 3057280"/>
              <a:gd name="connsiteY17" fmla="*/ 288492 h 2848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057280" h="2848325">
                <a:moveTo>
                  <a:pt x="2843906" y="288492"/>
                </a:moveTo>
                <a:cubicBezTo>
                  <a:pt x="2735511" y="167334"/>
                  <a:pt x="2597209" y="88753"/>
                  <a:pt x="2450142" y="53891"/>
                </a:cubicBezTo>
                <a:cubicBezTo>
                  <a:pt x="2434521" y="49319"/>
                  <a:pt x="2418424" y="45128"/>
                  <a:pt x="2401660" y="41414"/>
                </a:cubicBezTo>
                <a:cubicBezTo>
                  <a:pt x="2070000" y="-32405"/>
                  <a:pt x="1653852" y="-9736"/>
                  <a:pt x="1230561" y="127139"/>
                </a:cubicBezTo>
                <a:cubicBezTo>
                  <a:pt x="747072" y="283539"/>
                  <a:pt x="358262" y="555192"/>
                  <a:pt x="142425" y="853325"/>
                </a:cubicBezTo>
                <a:cubicBezTo>
                  <a:pt x="138806" y="858278"/>
                  <a:pt x="135758" y="863802"/>
                  <a:pt x="133281" y="869613"/>
                </a:cubicBezTo>
                <a:cubicBezTo>
                  <a:pt x="-2164" y="1067732"/>
                  <a:pt x="-35311" y="1317192"/>
                  <a:pt x="38127" y="1541125"/>
                </a:cubicBezTo>
                <a:cubicBezTo>
                  <a:pt x="40794" y="1553317"/>
                  <a:pt x="44699" y="1566271"/>
                  <a:pt x="49747" y="1580177"/>
                </a:cubicBezTo>
                <a:cubicBezTo>
                  <a:pt x="183573" y="1946318"/>
                  <a:pt x="491421" y="2307507"/>
                  <a:pt x="924237" y="2557443"/>
                </a:cubicBezTo>
                <a:cubicBezTo>
                  <a:pt x="1273424" y="2759087"/>
                  <a:pt x="1644708" y="2854146"/>
                  <a:pt x="1976750" y="2848050"/>
                </a:cubicBezTo>
                <a:cubicBezTo>
                  <a:pt x="1980560" y="2848050"/>
                  <a:pt x="1984275" y="2847765"/>
                  <a:pt x="1987989" y="2847669"/>
                </a:cubicBezTo>
                <a:cubicBezTo>
                  <a:pt x="2171536" y="2848812"/>
                  <a:pt x="2356035" y="2784328"/>
                  <a:pt x="2503578" y="2652311"/>
                </a:cubicBezTo>
                <a:cubicBezTo>
                  <a:pt x="2536153" y="2623165"/>
                  <a:pt x="2565680" y="2591733"/>
                  <a:pt x="2592065" y="2558681"/>
                </a:cubicBezTo>
                <a:cubicBezTo>
                  <a:pt x="2617116" y="2532201"/>
                  <a:pt x="2641119" y="2502578"/>
                  <a:pt x="2663979" y="2469336"/>
                </a:cubicBezTo>
                <a:cubicBezTo>
                  <a:pt x="2870004" y="2170442"/>
                  <a:pt x="3014594" y="1749056"/>
                  <a:pt x="3049360" y="1274616"/>
                </a:cubicBezTo>
                <a:cubicBezTo>
                  <a:pt x="3064505" y="1067923"/>
                  <a:pt x="3057552" y="868184"/>
                  <a:pt x="3031739" y="681589"/>
                </a:cubicBezTo>
                <a:cubicBezTo>
                  <a:pt x="3030977" y="675779"/>
                  <a:pt x="3029358" y="670064"/>
                  <a:pt x="3027262" y="664349"/>
                </a:cubicBezTo>
                <a:cubicBezTo>
                  <a:pt x="3003069" y="528998"/>
                  <a:pt x="2942299" y="398506"/>
                  <a:pt x="2843906" y="288492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ZA"/>
          </a:p>
        </p:txBody>
      </p:sp>
      <p:sp>
        <p:nvSpPr>
          <p:cNvPr id="137" name="Title 1">
            <a:extLst>
              <a:ext uri="{FF2B5EF4-FFF2-40B4-BE49-F238E27FC236}">
                <a16:creationId xmlns:a16="http://schemas.microsoft.com/office/drawing/2014/main" id="{8A25188A-3A43-24C9-9971-AAD26426CB3C}"/>
              </a:ext>
            </a:extLst>
          </p:cNvPr>
          <p:cNvSpPr txBox="1">
            <a:spLocks/>
          </p:cNvSpPr>
          <p:nvPr/>
        </p:nvSpPr>
        <p:spPr>
          <a:xfrm>
            <a:off x="1124004" y="5308355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 b="1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01</a:t>
            </a:r>
          </a:p>
        </p:txBody>
      </p:sp>
      <p:sp>
        <p:nvSpPr>
          <p:cNvPr id="138" name="Item Heading 12">
            <a:extLst>
              <a:ext uri="{FF2B5EF4-FFF2-40B4-BE49-F238E27FC236}">
                <a16:creationId xmlns:a16="http://schemas.microsoft.com/office/drawing/2014/main" id="{11A3F838-77EB-4A06-E9CB-5215F1CBB0C6}"/>
              </a:ext>
            </a:extLst>
          </p:cNvPr>
          <p:cNvSpPr txBox="1">
            <a:spLocks noGrp="1"/>
          </p:cNvSpPr>
          <p:nvPr>
            <p:ph type="body" idx="12"/>
          </p:nvPr>
        </p:nvSpPr>
        <p:spPr>
          <a:xfrm>
            <a:off x="2247085" y="5336670"/>
            <a:ext cx="1923134" cy="3720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2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b="1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139" name="Item Text 13">
            <a:extLst>
              <a:ext uri="{FF2B5EF4-FFF2-40B4-BE49-F238E27FC236}">
                <a16:creationId xmlns:a16="http://schemas.microsoft.com/office/drawing/2014/main" id="{EEFFEE84-1BA2-1187-71CA-ADF5429C70F3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2247083" y="5708744"/>
            <a:ext cx="1923135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accent2"/>
                </a:solidFill>
              </a:rPr>
              <a:t>Click to edit Master text styles</a:t>
            </a:r>
          </a:p>
        </p:txBody>
      </p:sp>
      <p:sp>
        <p:nvSpPr>
          <p:cNvPr id="140" name="Graphic 8">
            <a:extLst>
              <a:ext uri="{FF2B5EF4-FFF2-40B4-BE49-F238E27FC236}">
                <a16:creationId xmlns:a16="http://schemas.microsoft.com/office/drawing/2014/main" id="{2A460D33-D33D-691A-3AC0-FF605F009A9C}"/>
              </a:ext>
            </a:extLst>
          </p:cNvPr>
          <p:cNvSpPr/>
          <p:nvPr userDrawn="1"/>
        </p:nvSpPr>
        <p:spPr>
          <a:xfrm>
            <a:off x="7411574" y="5296044"/>
            <a:ext cx="1044518" cy="973128"/>
          </a:xfrm>
          <a:custGeom>
            <a:avLst/>
            <a:gdLst>
              <a:gd name="connsiteX0" fmla="*/ 2843906 w 3057280"/>
              <a:gd name="connsiteY0" fmla="*/ 288492 h 2848325"/>
              <a:gd name="connsiteX1" fmla="*/ 2450142 w 3057280"/>
              <a:gd name="connsiteY1" fmla="*/ 53891 h 2848325"/>
              <a:gd name="connsiteX2" fmla="*/ 2401660 w 3057280"/>
              <a:gd name="connsiteY2" fmla="*/ 41414 h 2848325"/>
              <a:gd name="connsiteX3" fmla="*/ 1230561 w 3057280"/>
              <a:gd name="connsiteY3" fmla="*/ 127139 h 2848325"/>
              <a:gd name="connsiteX4" fmla="*/ 142425 w 3057280"/>
              <a:gd name="connsiteY4" fmla="*/ 853325 h 2848325"/>
              <a:gd name="connsiteX5" fmla="*/ 133281 w 3057280"/>
              <a:gd name="connsiteY5" fmla="*/ 869613 h 2848325"/>
              <a:gd name="connsiteX6" fmla="*/ 38127 w 3057280"/>
              <a:gd name="connsiteY6" fmla="*/ 1541125 h 2848325"/>
              <a:gd name="connsiteX7" fmla="*/ 49747 w 3057280"/>
              <a:gd name="connsiteY7" fmla="*/ 1580177 h 2848325"/>
              <a:gd name="connsiteX8" fmla="*/ 924237 w 3057280"/>
              <a:gd name="connsiteY8" fmla="*/ 2557443 h 2848325"/>
              <a:gd name="connsiteX9" fmla="*/ 1976750 w 3057280"/>
              <a:gd name="connsiteY9" fmla="*/ 2848050 h 2848325"/>
              <a:gd name="connsiteX10" fmla="*/ 1987989 w 3057280"/>
              <a:gd name="connsiteY10" fmla="*/ 2847669 h 2848325"/>
              <a:gd name="connsiteX11" fmla="*/ 2503578 w 3057280"/>
              <a:gd name="connsiteY11" fmla="*/ 2652311 h 2848325"/>
              <a:gd name="connsiteX12" fmla="*/ 2592065 w 3057280"/>
              <a:gd name="connsiteY12" fmla="*/ 2558681 h 2848325"/>
              <a:gd name="connsiteX13" fmla="*/ 2663979 w 3057280"/>
              <a:gd name="connsiteY13" fmla="*/ 2469336 h 2848325"/>
              <a:gd name="connsiteX14" fmla="*/ 3049360 w 3057280"/>
              <a:gd name="connsiteY14" fmla="*/ 1274616 h 2848325"/>
              <a:gd name="connsiteX15" fmla="*/ 3031739 w 3057280"/>
              <a:gd name="connsiteY15" fmla="*/ 681589 h 2848325"/>
              <a:gd name="connsiteX16" fmla="*/ 3027262 w 3057280"/>
              <a:gd name="connsiteY16" fmla="*/ 664349 h 2848325"/>
              <a:gd name="connsiteX17" fmla="*/ 2843906 w 3057280"/>
              <a:gd name="connsiteY17" fmla="*/ 288492 h 2848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057280" h="2848325">
                <a:moveTo>
                  <a:pt x="2843906" y="288492"/>
                </a:moveTo>
                <a:cubicBezTo>
                  <a:pt x="2735511" y="167334"/>
                  <a:pt x="2597209" y="88753"/>
                  <a:pt x="2450142" y="53891"/>
                </a:cubicBezTo>
                <a:cubicBezTo>
                  <a:pt x="2434521" y="49319"/>
                  <a:pt x="2418424" y="45128"/>
                  <a:pt x="2401660" y="41414"/>
                </a:cubicBezTo>
                <a:cubicBezTo>
                  <a:pt x="2070000" y="-32405"/>
                  <a:pt x="1653852" y="-9736"/>
                  <a:pt x="1230561" y="127139"/>
                </a:cubicBezTo>
                <a:cubicBezTo>
                  <a:pt x="747072" y="283539"/>
                  <a:pt x="358262" y="555192"/>
                  <a:pt x="142425" y="853325"/>
                </a:cubicBezTo>
                <a:cubicBezTo>
                  <a:pt x="138806" y="858278"/>
                  <a:pt x="135758" y="863802"/>
                  <a:pt x="133281" y="869613"/>
                </a:cubicBezTo>
                <a:cubicBezTo>
                  <a:pt x="-2164" y="1067732"/>
                  <a:pt x="-35311" y="1317192"/>
                  <a:pt x="38127" y="1541125"/>
                </a:cubicBezTo>
                <a:cubicBezTo>
                  <a:pt x="40794" y="1553317"/>
                  <a:pt x="44699" y="1566271"/>
                  <a:pt x="49747" y="1580177"/>
                </a:cubicBezTo>
                <a:cubicBezTo>
                  <a:pt x="183573" y="1946318"/>
                  <a:pt x="491421" y="2307507"/>
                  <a:pt x="924237" y="2557443"/>
                </a:cubicBezTo>
                <a:cubicBezTo>
                  <a:pt x="1273424" y="2759087"/>
                  <a:pt x="1644708" y="2854146"/>
                  <a:pt x="1976750" y="2848050"/>
                </a:cubicBezTo>
                <a:cubicBezTo>
                  <a:pt x="1980560" y="2848050"/>
                  <a:pt x="1984275" y="2847765"/>
                  <a:pt x="1987989" y="2847669"/>
                </a:cubicBezTo>
                <a:cubicBezTo>
                  <a:pt x="2171536" y="2848812"/>
                  <a:pt x="2356035" y="2784328"/>
                  <a:pt x="2503578" y="2652311"/>
                </a:cubicBezTo>
                <a:cubicBezTo>
                  <a:pt x="2536153" y="2623165"/>
                  <a:pt x="2565680" y="2591733"/>
                  <a:pt x="2592065" y="2558681"/>
                </a:cubicBezTo>
                <a:cubicBezTo>
                  <a:pt x="2617116" y="2532201"/>
                  <a:pt x="2641119" y="2502578"/>
                  <a:pt x="2663979" y="2469336"/>
                </a:cubicBezTo>
                <a:cubicBezTo>
                  <a:pt x="2870004" y="2170442"/>
                  <a:pt x="3014594" y="1749056"/>
                  <a:pt x="3049360" y="1274616"/>
                </a:cubicBezTo>
                <a:cubicBezTo>
                  <a:pt x="3064505" y="1067923"/>
                  <a:pt x="3057552" y="868184"/>
                  <a:pt x="3031739" y="681589"/>
                </a:cubicBezTo>
                <a:cubicBezTo>
                  <a:pt x="3030977" y="675779"/>
                  <a:pt x="3029358" y="670064"/>
                  <a:pt x="3027262" y="664349"/>
                </a:cubicBezTo>
                <a:cubicBezTo>
                  <a:pt x="3003069" y="528998"/>
                  <a:pt x="2942299" y="398506"/>
                  <a:pt x="2843906" y="288492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ZA"/>
          </a:p>
        </p:txBody>
      </p:sp>
      <p:sp>
        <p:nvSpPr>
          <p:cNvPr id="141" name="Title 1">
            <a:extLst>
              <a:ext uri="{FF2B5EF4-FFF2-40B4-BE49-F238E27FC236}">
                <a16:creationId xmlns:a16="http://schemas.microsoft.com/office/drawing/2014/main" id="{051458AB-7AB7-6E5E-7957-6F30AC04A278}"/>
              </a:ext>
            </a:extLst>
          </p:cNvPr>
          <p:cNvSpPr txBox="1">
            <a:spLocks/>
          </p:cNvSpPr>
          <p:nvPr/>
        </p:nvSpPr>
        <p:spPr>
          <a:xfrm>
            <a:off x="7464564" y="5308355"/>
            <a:ext cx="1045759" cy="899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4000" b="1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03</a:t>
            </a:r>
          </a:p>
        </p:txBody>
      </p:sp>
      <p:sp>
        <p:nvSpPr>
          <p:cNvPr id="142" name="Item Heading 14">
            <a:extLst>
              <a:ext uri="{FF2B5EF4-FFF2-40B4-BE49-F238E27FC236}">
                <a16:creationId xmlns:a16="http://schemas.microsoft.com/office/drawing/2014/main" id="{B3F67D84-A834-CB27-2666-8CFDBB2357C8}"/>
              </a:ext>
            </a:extLst>
          </p:cNvPr>
          <p:cNvSpPr txBox="1">
            <a:spLocks noGrp="1"/>
          </p:cNvSpPr>
          <p:nvPr>
            <p:ph type="body" idx="14"/>
          </p:nvPr>
        </p:nvSpPr>
        <p:spPr>
          <a:xfrm>
            <a:off x="8587645" y="5336670"/>
            <a:ext cx="1923134" cy="3720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2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b="1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143" name="Item Text 15">
            <a:extLst>
              <a:ext uri="{FF2B5EF4-FFF2-40B4-BE49-F238E27FC236}">
                <a16:creationId xmlns:a16="http://schemas.microsoft.com/office/drawing/2014/main" id="{6967C280-89FA-9D95-4459-4E644BD6931D}"/>
              </a:ext>
            </a:extLst>
          </p:cNvPr>
          <p:cNvSpPr txBox="1">
            <a:spLocks noGrp="1"/>
          </p:cNvSpPr>
          <p:nvPr>
            <p:ph type="body" idx="15"/>
          </p:nvPr>
        </p:nvSpPr>
        <p:spPr>
          <a:xfrm>
            <a:off x="8587643" y="5708744"/>
            <a:ext cx="1923135" cy="5232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sz="1400">
                <a:solidFill>
                  <a:schemeClr val="accent2"/>
                </a:solidFill>
              </a:rPr>
              <a:t>Click to edit Master text styles</a:t>
            </a:r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4074121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6 – Focus + C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Photo of Mint Group team members at work">
            <a:extLst>
              <a:ext uri="{FF2B5EF4-FFF2-40B4-BE49-F238E27FC236}">
                <a16:creationId xmlns:a16="http://schemas.microsoft.com/office/drawing/2014/main" id="{6A62800D-571A-A07B-1286-1A3F94A0DD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91" b="38392"/>
          <a:stretch>
            <a:fillRect/>
          </a:stretch>
        </p:blipFill>
        <p:spPr>
          <a:xfrm>
            <a:off x="-9609" y="3122948"/>
            <a:ext cx="12201609" cy="3735052"/>
          </a:xfrm>
          <a:prstGeom prst="rect">
            <a:avLst/>
          </a:prstGeom>
        </p:spPr>
      </p:pic>
      <p:sp>
        <p:nvSpPr>
          <p:cNvPr id="4" name="Body 3">
            <a:extLst>
              <a:ext uri="{FF2B5EF4-FFF2-40B4-BE49-F238E27FC236}">
                <a16:creationId xmlns:a16="http://schemas.microsoft.com/office/drawing/2014/main" id="{3AA22576-5D0D-EE13-7167-E47DEC96F8B5}"/>
              </a:ext>
            </a:extLst>
          </p:cNvPr>
          <p:cNvSpPr txBox="1">
            <a:spLocks noGrp="1"/>
          </p:cNvSpPr>
          <p:nvPr userDrawn="1">
            <p:ph type="body" idx="3"/>
          </p:nvPr>
        </p:nvSpPr>
        <p:spPr>
          <a:xfrm>
            <a:off x="2750293" y="1604390"/>
            <a:ext cx="6691415" cy="9541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lvl="0" algn="ctr"/>
            <a:r>
              <a:rPr lang="en-US" sz="140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7518AF-6442-734B-F060-4B2196A6D334}"/>
              </a:ext>
            </a:extLst>
          </p:cNvPr>
          <p:cNvSpPr txBox="1">
            <a:spLocks noGrp="1"/>
          </p:cNvSpPr>
          <p:nvPr userDrawn="1">
            <p:ph type="title"/>
          </p:nvPr>
        </p:nvSpPr>
        <p:spPr>
          <a:xfrm>
            <a:off x="1606769" y="572913"/>
            <a:ext cx="8978462" cy="8148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buNone/>
              <a:defRPr sz="5400">
                <a:solidFill>
                  <a:schemeClr val="accent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pPr algn="ctr"/>
            <a:r>
              <a:rPr lang="en-US" sz="5400">
                <a:solidFill>
                  <a:schemeClr val="accent2"/>
                </a:solidFill>
                <a:latin typeface="Lato Light" panose="020F0502020204030203" pitchFamily="34" charset="0"/>
              </a:rPr>
              <a:t>Click to edit Master title style</a:t>
            </a:r>
            <a:endParaRPr lang="en-ZA" sz="6000">
              <a:solidFill>
                <a:schemeClr val="accent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pic>
        <p:nvPicPr>
          <p:cNvPr id="6" name="Graphic 5" descr="Photo of Mint Group team members at work">
            <a:extLst>
              <a:ext uri="{FF2B5EF4-FFF2-40B4-BE49-F238E27FC236}">
                <a16:creationId xmlns:a16="http://schemas.microsoft.com/office/drawing/2014/main" id="{A2E45521-6BB1-0F01-0C0A-B2DE5E98C3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85534" y="5792174"/>
            <a:ext cx="905271" cy="905271"/>
          </a:xfrm>
          <a:prstGeom prst="rect">
            <a:avLst/>
          </a:prstGeom>
        </p:spPr>
      </p:pic>
      <p:pic>
        <p:nvPicPr>
          <p:cNvPr id="11" name="Graphic 10" descr="Photo of Mint Group team members at work">
            <a:extLst>
              <a:ext uri="{FF2B5EF4-FFF2-40B4-BE49-F238E27FC236}">
                <a16:creationId xmlns:a16="http://schemas.microsoft.com/office/drawing/2014/main" id="{41CED1C3-2E22-62AB-015A-860AD408D9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609" y="3122948"/>
            <a:ext cx="12321352" cy="3313787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D5663EA-4E6C-1F4C-0686-D42E6F335613}"/>
              </a:ext>
            </a:extLst>
          </p:cNvPr>
          <p:cNvSpPr/>
          <p:nvPr userDrawn="1"/>
        </p:nvSpPr>
        <p:spPr>
          <a:xfrm>
            <a:off x="3967278" y="2862238"/>
            <a:ext cx="4257440" cy="534388"/>
          </a:xfrm>
          <a:prstGeom prst="roundRect">
            <a:avLst>
              <a:gd name="adj" fmla="val 50000"/>
            </a:avLst>
          </a:prstGeom>
          <a:solidFill>
            <a:srgbClr val="65A1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" name="CTA 4">
            <a:extLst>
              <a:ext uri="{FF2B5EF4-FFF2-40B4-BE49-F238E27FC236}">
                <a16:creationId xmlns:a16="http://schemas.microsoft.com/office/drawing/2014/main" id="{218C68CA-9942-9D84-289B-E4A59E4924E8}"/>
              </a:ext>
            </a:extLst>
          </p:cNvPr>
          <p:cNvSpPr txBox="1">
            <a:spLocks noGrp="1"/>
          </p:cNvSpPr>
          <p:nvPr userDrawn="1">
            <p:ph type="body" idx="4"/>
          </p:nvPr>
        </p:nvSpPr>
        <p:spPr>
          <a:xfrm>
            <a:off x="2577286" y="2908751"/>
            <a:ext cx="7037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ctr">
              <a:buNone/>
              <a:defRPr sz="2400" b="1" i="0">
                <a:solidFill>
                  <a:schemeClr val="bg1"/>
                </a:solidFill>
              </a:defRPr>
            </a:lvl1pPr>
          </a:lstStyle>
          <a:p>
            <a:pPr lvl="0" algn="ctr"/>
            <a:r>
              <a:rPr lang="en-US" sz="2400" b="1" i="0">
                <a:solidFill>
                  <a:schemeClr val="bg1"/>
                </a:solidFill>
              </a:rPr>
              <a:t>Click to edit Master text styles</a:t>
            </a:r>
          </a:p>
        </p:txBody>
      </p:sp>
      <p:sp>
        <p:nvSpPr>
          <p:cNvPr id="82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20}" type="slidenum">
              <a:rPr lang="en-ZA" smtClean="0"/>
              <a:t>‹#›</a:t>
            </a:fld>
            <a:endParaRPr lang="en-ZA"/>
          </a:p>
        </p:txBody>
      </p:sp>
      <p:sp>
        <p:nvSpPr>
          <p:cNvPr id="82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417975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2935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–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mint&#10;&#10;AI-generated content may be incorrect.">
            <a:extLst>
              <a:ext uri="{FF2B5EF4-FFF2-40B4-BE49-F238E27FC236}">
                <a16:creationId xmlns:a16="http://schemas.microsoft.com/office/drawing/2014/main" id="{3C343F67-F4D2-0018-BAB8-A57991ACC0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6" name="Title 1"/>
          <p:cNvSpPr txBox="1">
            <a:spLocks noGrp="1"/>
          </p:cNvSpPr>
          <p:nvPr>
            <p:ph type="title"/>
          </p:nvPr>
        </p:nvSpPr>
        <p:spPr>
          <a:xfrm>
            <a:off x="530352" y="210312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5400" b="1" i="0">
                <a:solidFill>
                  <a:srgbClr val="FFFFFF"/>
                </a:solidFill>
                <a:latin typeface="Lato Light"/>
              </a:defRPr>
            </a:lvl1pPr>
          </a:lstStyle>
          <a:p>
            <a:pPr algn="l"/>
            <a:r>
              <a:rPr lang="en-US" sz="5400" b="1" i="0">
                <a:solidFill>
                  <a:srgbClr val="FFFFFF"/>
                </a:solidFill>
                <a:latin typeface="Lato Light"/>
              </a:rPr>
              <a:t>Click to edit Master title style</a:t>
            </a:r>
            <a:endParaRPr sz="4000" b="1" i="0">
              <a:solidFill>
                <a:srgbClr val="FFFFFF"/>
              </a:solidFill>
              <a:latin typeface="Lato"/>
            </a:endParaRPr>
          </a:p>
        </p:txBody>
      </p:sp>
      <p:sp>
        <p:nvSpPr>
          <p:cNvPr id="5" name="Prepared For Client"/>
          <p:cNvSpPr txBox="1">
            <a:spLocks noGrp="1"/>
          </p:cNvSpPr>
          <p:nvPr>
            <p:ph type="body" idx="11"/>
          </p:nvPr>
        </p:nvSpPr>
        <p:spPr>
          <a:xfrm>
            <a:off x="548640" y="1737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BDD3F0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Click To Edit Subtitle"/>
          <p:cNvSpPr txBox="1">
            <a:spLocks noGrp="1"/>
          </p:cNvSpPr>
          <p:nvPr>
            <p:ph type="body" idx="2"/>
          </p:nvPr>
        </p:nvSpPr>
        <p:spPr>
          <a:xfrm>
            <a:off x="548640" y="30632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400" b="1" i="1">
                <a:solidFill>
                  <a:srgbClr val="89C146"/>
                </a:solidFill>
                <a:latin typeface="Lato"/>
              </a:defRPr>
            </a:lvl1pPr>
          </a:lstStyle>
          <a:p>
            <a:pPr lvl="0" algn="l"/>
            <a:r>
              <a:rPr lang="en-US" sz="2400" b="1" i="0">
                <a:solidFill>
                  <a:srgbClr val="BDD3F0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Click To Edit Abstract"/>
          <p:cNvSpPr txBox="1">
            <a:spLocks noGrp="1"/>
          </p:cNvSpPr>
          <p:nvPr>
            <p:ph type="body" idx="3"/>
          </p:nvPr>
        </p:nvSpPr>
        <p:spPr>
          <a:xfrm>
            <a:off x="548640" y="3977639"/>
            <a:ext cx="685800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350" b="0" i="1">
                <a:solidFill>
                  <a:srgbClr val="FFFFFF"/>
                </a:solidFill>
                <a:latin typeface="Lato"/>
              </a:defRPr>
            </a:lvl1pPr>
          </a:lstStyle>
          <a:p>
            <a:pPr lvl="0" algn="l">
              <a:lnSpc>
                <a:spcPct val="125000"/>
              </a:lnSpc>
            </a:pPr>
            <a:r>
              <a:rPr lang="en-US" sz="1350" b="0" i="1">
                <a:solidFill>
                  <a:srgbClr val="C9D2E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Prepared By Mint Group · Date"/>
          <p:cNvSpPr txBox="1">
            <a:spLocks noGrp="1"/>
          </p:cNvSpPr>
          <p:nvPr>
            <p:ph type="body" idx="4"/>
          </p:nvPr>
        </p:nvSpPr>
        <p:spPr>
          <a:xfrm>
            <a:off x="54864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2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200" b="1" i="0">
                <a:solidFill>
                  <a:srgbClr val="BDD3F0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Card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1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Optional Intro — Delete If Not"/>
          <p:cNvSpPr txBox="1">
            <a:spLocks noGrp="1"/>
          </p:cNvSpPr>
          <p:nvPr>
            <p:ph type="body" idx="12"/>
          </p:nvPr>
        </p:nvSpPr>
        <p:spPr>
          <a:xfrm>
            <a:off x="718005" y="142646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4684" y="2103120"/>
            <a:ext cx="3335564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8005" y="2103120"/>
            <a:ext cx="3228921" cy="68580"/>
          </a:xfrm>
          <a:prstGeom prst="rect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Card Title"/>
          <p:cNvSpPr txBox="1">
            <a:spLocks noGrp="1"/>
          </p:cNvSpPr>
          <p:nvPr>
            <p:ph type="body" idx="20"/>
          </p:nvPr>
        </p:nvSpPr>
        <p:spPr>
          <a:xfrm>
            <a:off x="824648" y="2304288"/>
            <a:ext cx="301563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Card Text"/>
          <p:cNvSpPr txBox="1">
            <a:spLocks noGrp="1"/>
          </p:cNvSpPr>
          <p:nvPr>
            <p:ph type="body" idx="21"/>
          </p:nvPr>
        </p:nvSpPr>
        <p:spPr>
          <a:xfrm>
            <a:off x="824648" y="2670048"/>
            <a:ext cx="3015634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95761" y="2103120"/>
            <a:ext cx="3335564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49083" y="2103120"/>
            <a:ext cx="3228921" cy="68580"/>
          </a:xfrm>
          <a:prstGeom prst="rect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ard Title"/>
          <p:cNvSpPr txBox="1">
            <a:spLocks noGrp="1"/>
          </p:cNvSpPr>
          <p:nvPr>
            <p:ph type="body" idx="22"/>
          </p:nvPr>
        </p:nvSpPr>
        <p:spPr>
          <a:xfrm>
            <a:off x="4355726" y="2304288"/>
            <a:ext cx="301563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Card Text"/>
          <p:cNvSpPr txBox="1">
            <a:spLocks noGrp="1"/>
          </p:cNvSpPr>
          <p:nvPr>
            <p:ph type="body" idx="23"/>
          </p:nvPr>
        </p:nvSpPr>
        <p:spPr>
          <a:xfrm>
            <a:off x="4355726" y="2670048"/>
            <a:ext cx="3015634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838" y="2103120"/>
            <a:ext cx="3335564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80160" y="2103120"/>
            <a:ext cx="3228921" cy="68580"/>
          </a:xfrm>
          <a:prstGeom prst="rect">
            <a:avLst/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Card Title"/>
          <p:cNvSpPr txBox="1">
            <a:spLocks noGrp="1"/>
          </p:cNvSpPr>
          <p:nvPr>
            <p:ph type="body" idx="24"/>
          </p:nvPr>
        </p:nvSpPr>
        <p:spPr>
          <a:xfrm>
            <a:off x="7886803" y="2304288"/>
            <a:ext cx="301563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15927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15927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Card Text"/>
          <p:cNvSpPr txBox="1">
            <a:spLocks noGrp="1"/>
          </p:cNvSpPr>
          <p:nvPr>
            <p:ph type="body" idx="25"/>
          </p:nvPr>
        </p:nvSpPr>
        <p:spPr>
          <a:xfrm>
            <a:off x="7886803" y="2670048"/>
            <a:ext cx="3015634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9" name="Optional Callout — Delete If N"/>
          <p:cNvSpPr txBox="1">
            <a:spLocks noGrp="1"/>
          </p:cNvSpPr>
          <p:nvPr>
            <p:ph type="body" idx="40"/>
          </p:nvPr>
        </p:nvSpPr>
        <p:spPr>
          <a:xfrm>
            <a:off x="718004" y="4754880"/>
            <a:ext cx="10913163" cy="731520"/>
          </a:xfrm>
          <a:prstGeom prst="roundRect">
            <a:avLst>
              <a:gd name="adj" fmla="val 12000"/>
            </a:avLst>
          </a:prstGeom>
          <a:solidFill>
            <a:srgbClr val="E9F3F7"/>
          </a:solidFill>
        </p:spPr>
        <p:txBody>
          <a:bodyPr wrap="square" lIns="274320" tIns="73152" rIns="274320" bIns="73152" anchor="ctr">
            <a:normAutofit/>
          </a:bodyPr>
          <a:lstStyle>
            <a:lvl1pPr marL="0" indent="0" algn="ctr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80" name="ftr ph"/>
          <p:cNvSpPr>
            <a:spLocks noGrp="1"/>
          </p:cNvSpPr>
          <p:nvPr>
            <p:ph type="ftr" sz="quarter" idx="3"/>
          </p:nvPr>
        </p:nvSpPr>
        <p:spPr>
          <a:xfrm>
            <a:off x="664684" y="5705856"/>
            <a:ext cx="8344836" cy="3108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  <p:sp>
        <p:nvSpPr>
          <p:cNvPr id="881" name="sldNum ph"/>
          <p:cNvSpPr>
            <a:spLocks noGrp="1"/>
          </p:cNvSpPr>
          <p:nvPr>
            <p:ph type="sldNum" sz="quarter" idx="4"/>
          </p:nvPr>
        </p:nvSpPr>
        <p:spPr>
          <a:xfrm>
            <a:off x="11275690" y="5705856"/>
            <a:ext cx="3999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fld id="{B1F3E1CD-0002-4C0D-9C7B-000000000881}" type="slidenum">
              <a:rPr lang="en-ZA" smtClean="0"/>
              <a:t>‹#›</a:t>
            </a:fld>
            <a:endParaRPr lang="en-ZA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Card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2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Optional Intro — Delete If Not"/>
          <p:cNvSpPr txBox="1">
            <a:spLocks noGrp="1"/>
          </p:cNvSpPr>
          <p:nvPr>
            <p:ph type="body" idx="12"/>
          </p:nvPr>
        </p:nvSpPr>
        <p:spPr>
          <a:xfrm>
            <a:off x="718005" y="142646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4684" y="2068830"/>
            <a:ext cx="2452795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8005" y="2068830"/>
            <a:ext cx="2346152" cy="68580"/>
          </a:xfrm>
          <a:prstGeom prst="rect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Card Title"/>
          <p:cNvSpPr txBox="1">
            <a:spLocks noGrp="1"/>
          </p:cNvSpPr>
          <p:nvPr>
            <p:ph type="body" idx="20"/>
          </p:nvPr>
        </p:nvSpPr>
        <p:spPr>
          <a:xfrm>
            <a:off x="824648" y="2269998"/>
            <a:ext cx="2132865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Card Text"/>
          <p:cNvSpPr txBox="1">
            <a:spLocks noGrp="1"/>
          </p:cNvSpPr>
          <p:nvPr>
            <p:ph type="body" idx="21"/>
          </p:nvPr>
        </p:nvSpPr>
        <p:spPr>
          <a:xfrm>
            <a:off x="824648" y="2635758"/>
            <a:ext cx="2132865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2992" y="2068830"/>
            <a:ext cx="2452795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66313" y="2068830"/>
            <a:ext cx="2346152" cy="68580"/>
          </a:xfrm>
          <a:prstGeom prst="rect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ard Title"/>
          <p:cNvSpPr txBox="1">
            <a:spLocks noGrp="1"/>
          </p:cNvSpPr>
          <p:nvPr>
            <p:ph type="body" idx="22"/>
          </p:nvPr>
        </p:nvSpPr>
        <p:spPr>
          <a:xfrm>
            <a:off x="3472956" y="2269998"/>
            <a:ext cx="2132865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Card Text"/>
          <p:cNvSpPr txBox="1">
            <a:spLocks noGrp="1"/>
          </p:cNvSpPr>
          <p:nvPr>
            <p:ph type="body" idx="23"/>
          </p:nvPr>
        </p:nvSpPr>
        <p:spPr>
          <a:xfrm>
            <a:off x="3472956" y="2635758"/>
            <a:ext cx="2132865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300" y="2068830"/>
            <a:ext cx="2452795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14621" y="2068830"/>
            <a:ext cx="2346152" cy="68580"/>
          </a:xfrm>
          <a:prstGeom prst="rect">
            <a:avLst/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Card Title"/>
          <p:cNvSpPr txBox="1">
            <a:spLocks noGrp="1"/>
          </p:cNvSpPr>
          <p:nvPr>
            <p:ph type="body" idx="24"/>
          </p:nvPr>
        </p:nvSpPr>
        <p:spPr>
          <a:xfrm>
            <a:off x="6121265" y="2269998"/>
            <a:ext cx="2132865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15927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15927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Card Text"/>
          <p:cNvSpPr txBox="1">
            <a:spLocks noGrp="1"/>
          </p:cNvSpPr>
          <p:nvPr>
            <p:ph type="body" idx="25"/>
          </p:nvPr>
        </p:nvSpPr>
        <p:spPr>
          <a:xfrm>
            <a:off x="6121265" y="2635758"/>
            <a:ext cx="2132865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09608" y="2068830"/>
            <a:ext cx="2452795" cy="2423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662929" y="2068830"/>
            <a:ext cx="2346152" cy="68580"/>
          </a:xfrm>
          <a:prstGeom prst="rect">
            <a:avLst/>
          </a:prstGeom>
          <a:solidFill>
            <a:srgbClr val="62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ard Title"/>
          <p:cNvSpPr txBox="1">
            <a:spLocks noGrp="1"/>
          </p:cNvSpPr>
          <p:nvPr>
            <p:ph type="body" idx="26"/>
          </p:nvPr>
        </p:nvSpPr>
        <p:spPr>
          <a:xfrm>
            <a:off x="8769573" y="2269998"/>
            <a:ext cx="2132865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626E73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439E46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1" name="Card Text"/>
          <p:cNvSpPr txBox="1">
            <a:spLocks noGrp="1"/>
          </p:cNvSpPr>
          <p:nvPr>
            <p:ph type="body" idx="27"/>
          </p:nvPr>
        </p:nvSpPr>
        <p:spPr>
          <a:xfrm>
            <a:off x="8769573" y="2635758"/>
            <a:ext cx="2132865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3" name="Optional Callout — Delete If N"/>
          <p:cNvSpPr txBox="1">
            <a:spLocks noGrp="1"/>
          </p:cNvSpPr>
          <p:nvPr>
            <p:ph type="body" idx="40"/>
          </p:nvPr>
        </p:nvSpPr>
        <p:spPr>
          <a:xfrm>
            <a:off x="664684" y="4754880"/>
            <a:ext cx="10966484" cy="731520"/>
          </a:xfrm>
          <a:prstGeom prst="roundRect">
            <a:avLst>
              <a:gd name="adj" fmla="val 12000"/>
            </a:avLst>
          </a:prstGeom>
          <a:solidFill>
            <a:srgbClr val="E9F3F7"/>
          </a:solidFill>
        </p:spPr>
        <p:txBody>
          <a:bodyPr wrap="square" lIns="274320" tIns="73152" rIns="274320" bIns="73152" anchor="ctr">
            <a:normAutofit/>
          </a:bodyPr>
          <a:lstStyle>
            <a:lvl1pPr marL="0" indent="0" algn="ctr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80" name="ftr ph"/>
          <p:cNvSpPr>
            <a:spLocks noGrp="1"/>
          </p:cNvSpPr>
          <p:nvPr>
            <p:ph type="ftr" sz="quarter" idx="3"/>
          </p:nvPr>
        </p:nvSpPr>
        <p:spPr>
          <a:xfrm>
            <a:off x="664684" y="5705856"/>
            <a:ext cx="8344836" cy="3108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endParaRPr lang="en-ZA" dirty="0"/>
          </a:p>
        </p:txBody>
      </p:sp>
      <p:sp>
        <p:nvSpPr>
          <p:cNvPr id="881" name="sldNum ph"/>
          <p:cNvSpPr>
            <a:spLocks noGrp="1"/>
          </p:cNvSpPr>
          <p:nvPr>
            <p:ph type="sldNum" sz="quarter" idx="4"/>
          </p:nvPr>
        </p:nvSpPr>
        <p:spPr>
          <a:xfrm>
            <a:off x="11275690" y="5705856"/>
            <a:ext cx="3999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fld id="{B1F3E1CD-0002-4C0D-9C7B-000000000881}" type="slidenum">
              <a:rPr lang="en-ZA" smtClean="0"/>
              <a:t>‹#›</a:t>
            </a:fld>
            <a:endParaRPr lang="en-ZA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Process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3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Optional Intro — Delete If Not"/>
          <p:cNvSpPr txBox="1">
            <a:spLocks noGrp="1"/>
          </p:cNvSpPr>
          <p:nvPr>
            <p:ph type="body" idx="12"/>
          </p:nvPr>
        </p:nvSpPr>
        <p:spPr>
          <a:xfrm>
            <a:off x="718005" y="142646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4683" y="2217420"/>
            <a:ext cx="2266169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8004" y="2217420"/>
            <a:ext cx="2159526" cy="68580"/>
          </a:xfrm>
          <a:prstGeom prst="rect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ep Title"/>
          <p:cNvSpPr txBox="1">
            <a:spLocks noGrp="1"/>
          </p:cNvSpPr>
          <p:nvPr>
            <p:ph type="body" idx="20"/>
          </p:nvPr>
        </p:nvSpPr>
        <p:spPr>
          <a:xfrm>
            <a:off x="824647" y="2418588"/>
            <a:ext cx="1946239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Step Text"/>
          <p:cNvSpPr txBox="1">
            <a:spLocks noGrp="1"/>
          </p:cNvSpPr>
          <p:nvPr>
            <p:ph type="body" idx="21"/>
          </p:nvPr>
        </p:nvSpPr>
        <p:spPr>
          <a:xfrm>
            <a:off x="824647" y="2784348"/>
            <a:ext cx="1946239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1948" y="3177540"/>
            <a:ext cx="31992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84B9A"/>
                </a:solidFill>
                <a:latin typeface="Lat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199" y="2217420"/>
            <a:ext cx="2266169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8521" y="2217420"/>
            <a:ext cx="2159526" cy="68580"/>
          </a:xfrm>
          <a:prstGeom prst="rect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 Title"/>
          <p:cNvSpPr txBox="1">
            <a:spLocks noGrp="1"/>
          </p:cNvSpPr>
          <p:nvPr>
            <p:ph type="body" idx="22"/>
          </p:nvPr>
        </p:nvSpPr>
        <p:spPr>
          <a:xfrm>
            <a:off x="3535164" y="2418588"/>
            <a:ext cx="1946239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Step Text"/>
          <p:cNvSpPr txBox="1">
            <a:spLocks noGrp="1"/>
          </p:cNvSpPr>
          <p:nvPr>
            <p:ph type="body" idx="23"/>
          </p:nvPr>
        </p:nvSpPr>
        <p:spPr>
          <a:xfrm>
            <a:off x="3535164" y="2784348"/>
            <a:ext cx="1946239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2464" y="3177540"/>
            <a:ext cx="31992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84B9A"/>
                </a:solidFill>
                <a:latin typeface="Lat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5716" y="2217420"/>
            <a:ext cx="2266169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39037" y="2217420"/>
            <a:ext cx="2159526" cy="68580"/>
          </a:xfrm>
          <a:prstGeom prst="rect">
            <a:avLst/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ep Title"/>
          <p:cNvSpPr txBox="1">
            <a:spLocks noGrp="1"/>
          </p:cNvSpPr>
          <p:nvPr>
            <p:ph type="body" idx="24"/>
          </p:nvPr>
        </p:nvSpPr>
        <p:spPr>
          <a:xfrm>
            <a:off x="6245681" y="2418588"/>
            <a:ext cx="1946239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15927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15927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9" name="Step Text"/>
          <p:cNvSpPr txBox="1">
            <a:spLocks noGrp="1"/>
          </p:cNvSpPr>
          <p:nvPr>
            <p:ph type="body" idx="25"/>
          </p:nvPr>
        </p:nvSpPr>
        <p:spPr>
          <a:xfrm>
            <a:off x="6245681" y="2784348"/>
            <a:ext cx="1946239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2981" y="3177540"/>
            <a:ext cx="31992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84B9A"/>
                </a:solidFill>
                <a:latin typeface="Lato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96232" y="2217420"/>
            <a:ext cx="2266169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49554" y="2217420"/>
            <a:ext cx="2159526" cy="68580"/>
          </a:xfrm>
          <a:prstGeom prst="rect">
            <a:avLst/>
          </a:prstGeom>
          <a:solidFill>
            <a:srgbClr val="62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tep Title"/>
          <p:cNvSpPr txBox="1">
            <a:spLocks noGrp="1"/>
          </p:cNvSpPr>
          <p:nvPr>
            <p:ph type="body" idx="26"/>
          </p:nvPr>
        </p:nvSpPr>
        <p:spPr>
          <a:xfrm>
            <a:off x="8956197" y="2418588"/>
            <a:ext cx="1946239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626E73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439E46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4" name="Step Text"/>
          <p:cNvSpPr txBox="1">
            <a:spLocks noGrp="1"/>
          </p:cNvSpPr>
          <p:nvPr>
            <p:ph type="body" idx="27"/>
          </p:nvPr>
        </p:nvSpPr>
        <p:spPr>
          <a:xfrm>
            <a:off x="8956197" y="2784348"/>
            <a:ext cx="1946239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2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5" name="Optional Note — Delete If Not "/>
          <p:cNvSpPr txBox="1">
            <a:spLocks noGrp="1"/>
          </p:cNvSpPr>
          <p:nvPr>
            <p:ph type="body" idx="40"/>
          </p:nvPr>
        </p:nvSpPr>
        <p:spPr>
          <a:xfrm>
            <a:off x="718005" y="4754880"/>
            <a:ext cx="10868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0" i="1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0" i="1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80" name="ftr ph"/>
          <p:cNvSpPr>
            <a:spLocks noGrp="1"/>
          </p:cNvSpPr>
          <p:nvPr>
            <p:ph type="ftr" sz="quarter" idx="3"/>
          </p:nvPr>
        </p:nvSpPr>
        <p:spPr>
          <a:xfrm>
            <a:off x="718004" y="5705856"/>
            <a:ext cx="8291515" cy="3108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endParaRPr lang="en-ZA" dirty="0"/>
          </a:p>
        </p:txBody>
      </p:sp>
      <p:sp>
        <p:nvSpPr>
          <p:cNvPr id="881" name="sldNum ph"/>
          <p:cNvSpPr>
            <a:spLocks noGrp="1"/>
          </p:cNvSpPr>
          <p:nvPr>
            <p:ph type="sldNum" sz="quarter" idx="4"/>
          </p:nvPr>
        </p:nvSpPr>
        <p:spPr>
          <a:xfrm>
            <a:off x="11275690" y="5705856"/>
            <a:ext cx="3999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fld id="{B1F3E1CD-0002-4C0D-9C7B-000000000881}" type="slidenum">
              <a:rPr lang="en-ZA" smtClean="0"/>
              <a:t>‹#›</a:t>
            </a:fld>
            <a:endParaRPr lang="en-ZA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Pricing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4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Optional Intro — Delete If Not"/>
          <p:cNvSpPr txBox="1">
            <a:spLocks noGrp="1"/>
          </p:cNvSpPr>
          <p:nvPr>
            <p:ph type="body" idx="12"/>
          </p:nvPr>
        </p:nvSpPr>
        <p:spPr>
          <a:xfrm>
            <a:off x="718005" y="142646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Lead-In Line"/>
          <p:cNvSpPr txBox="1">
            <a:spLocks noGrp="1"/>
          </p:cNvSpPr>
          <p:nvPr>
            <p:ph type="body" idx="13"/>
          </p:nvPr>
        </p:nvSpPr>
        <p:spPr>
          <a:xfrm>
            <a:off x="718005" y="1472474"/>
            <a:ext cx="519885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2A3338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2A3338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List Column One"/>
          <p:cNvSpPr txBox="1">
            <a:spLocks noGrp="1"/>
          </p:cNvSpPr>
          <p:nvPr>
            <p:ph type="body" idx="14"/>
          </p:nvPr>
        </p:nvSpPr>
        <p:spPr>
          <a:xfrm>
            <a:off x="700231" y="1783080"/>
            <a:ext cx="3421471" cy="3291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List Column Two"/>
          <p:cNvSpPr txBox="1">
            <a:spLocks noGrp="1"/>
          </p:cNvSpPr>
          <p:nvPr>
            <p:ph type="body" idx="15"/>
          </p:nvPr>
        </p:nvSpPr>
        <p:spPr>
          <a:xfrm>
            <a:off x="4432746" y="1783080"/>
            <a:ext cx="3465906" cy="3291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261" y="1426464"/>
            <a:ext cx="3465906" cy="3236976"/>
          </a:xfrm>
          <a:prstGeom prst="roundRect">
            <a:avLst>
              <a:gd name="adj" fmla="val 5000"/>
            </a:avLst>
          </a:prstGeom>
          <a:solidFill>
            <a:srgbClr val="24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Kicker"/>
          <p:cNvSpPr txBox="1">
            <a:spLocks noGrp="1"/>
          </p:cNvSpPr>
          <p:nvPr>
            <p:ph type="body" idx="20"/>
          </p:nvPr>
        </p:nvSpPr>
        <p:spPr>
          <a:xfrm>
            <a:off x="8431869" y="1645920"/>
            <a:ext cx="293269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3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2" name="Big Number"/>
          <p:cNvSpPr txBox="1">
            <a:spLocks noGrp="1"/>
          </p:cNvSpPr>
          <p:nvPr>
            <p:ph type="body" idx="21"/>
          </p:nvPr>
        </p:nvSpPr>
        <p:spPr>
          <a:xfrm>
            <a:off x="8431869" y="1993392"/>
            <a:ext cx="2932690" cy="9326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0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30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Secondary Figure"/>
          <p:cNvSpPr txBox="1">
            <a:spLocks noGrp="1"/>
          </p:cNvSpPr>
          <p:nvPr>
            <p:ph type="body" idx="22"/>
          </p:nvPr>
        </p:nvSpPr>
        <p:spPr>
          <a:xfrm>
            <a:off x="8431869" y="2999232"/>
            <a:ext cx="293269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89C146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Term"/>
          <p:cNvSpPr txBox="1">
            <a:spLocks noGrp="1"/>
          </p:cNvSpPr>
          <p:nvPr>
            <p:ph type="body" idx="23"/>
          </p:nvPr>
        </p:nvSpPr>
        <p:spPr>
          <a:xfrm>
            <a:off x="8431869" y="3749040"/>
            <a:ext cx="293269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0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5" name="Billing Note"/>
          <p:cNvSpPr txBox="1">
            <a:spLocks noGrp="1"/>
          </p:cNvSpPr>
          <p:nvPr>
            <p:ph type="body" idx="24"/>
          </p:nvPr>
        </p:nvSpPr>
        <p:spPr>
          <a:xfrm>
            <a:off x="8431869" y="4078224"/>
            <a:ext cx="2932690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0" i="1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400" b="0" i="1">
                <a:solidFill>
                  <a:srgbClr val="B9C4D6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6" name="Fine Print — Delete If Not Nee"/>
          <p:cNvSpPr txBox="1">
            <a:spLocks noGrp="1"/>
          </p:cNvSpPr>
          <p:nvPr>
            <p:ph type="body" idx="41"/>
          </p:nvPr>
        </p:nvSpPr>
        <p:spPr>
          <a:xfrm>
            <a:off x="700231" y="5303520"/>
            <a:ext cx="10531024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0" i="1">
                <a:solidFill>
                  <a:srgbClr val="6C777D"/>
                </a:solidFill>
                <a:latin typeface="Lato"/>
              </a:defRPr>
            </a:lvl1pPr>
          </a:lstStyle>
          <a:p>
            <a:pPr lvl="0" algn="l"/>
            <a:r>
              <a:rPr lang="en-US" sz="1400" b="0" i="1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80" name="ftr ph"/>
          <p:cNvSpPr>
            <a:spLocks noGrp="1"/>
          </p:cNvSpPr>
          <p:nvPr>
            <p:ph type="ftr" sz="quarter" idx="3"/>
          </p:nvPr>
        </p:nvSpPr>
        <p:spPr>
          <a:xfrm>
            <a:off x="672460" y="5705856"/>
            <a:ext cx="8337060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  <p:sp>
        <p:nvSpPr>
          <p:cNvPr id="881" name="sldNum ph"/>
          <p:cNvSpPr>
            <a:spLocks noGrp="1"/>
          </p:cNvSpPr>
          <p:nvPr>
            <p:ph type="sldNum" sz="quarter" idx="4"/>
          </p:nvPr>
        </p:nvSpPr>
        <p:spPr>
          <a:xfrm>
            <a:off x="11275690" y="5705856"/>
            <a:ext cx="3999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fld id="{B1F3E1CD-0002-4C0D-9C7B-000000000881}" type="slidenum">
              <a:rPr lang="en-ZA" smtClean="0"/>
              <a:t>‹#›</a:t>
            </a:fld>
            <a:endParaRPr lang="en-ZA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5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Optional Intro — Delete If Not"/>
          <p:cNvSpPr txBox="1">
            <a:spLocks noGrp="1"/>
          </p:cNvSpPr>
          <p:nvPr>
            <p:ph type="body" idx="12"/>
          </p:nvPr>
        </p:nvSpPr>
        <p:spPr>
          <a:xfrm>
            <a:off x="718005" y="142646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Optional Callout — Delete If N"/>
          <p:cNvSpPr txBox="1">
            <a:spLocks noGrp="1"/>
          </p:cNvSpPr>
          <p:nvPr>
            <p:ph type="body" idx="40"/>
          </p:nvPr>
        </p:nvSpPr>
        <p:spPr>
          <a:xfrm>
            <a:off x="718004" y="4617720"/>
            <a:ext cx="10913163" cy="822960"/>
          </a:xfrm>
          <a:prstGeom prst="roundRect">
            <a:avLst>
              <a:gd name="adj" fmla="val 12000"/>
            </a:avLst>
          </a:prstGeom>
          <a:solidFill>
            <a:srgbClr val="E9F3F7"/>
          </a:solidFill>
        </p:spPr>
        <p:txBody>
          <a:bodyPr wrap="square" lIns="274320" tIns="73152" rIns="274320" bIns="73152" anchor="ctr">
            <a:normAutofit/>
          </a:bodyPr>
          <a:lstStyle>
            <a:lvl1pPr marL="0" indent="0" algn="ctr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Click Icon To Insert Table"/>
          <p:cNvSpPr txBox="1">
            <a:spLocks noGrp="1"/>
          </p:cNvSpPr>
          <p:nvPr>
            <p:ph type="tbl" idx="10"/>
          </p:nvPr>
        </p:nvSpPr>
        <p:spPr>
          <a:xfrm>
            <a:off x="718005" y="2011680"/>
            <a:ext cx="11019805" cy="387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/>
              <a:t>Click icon to add table</a:t>
            </a:r>
            <a:endParaRPr dirty="0"/>
          </a:p>
        </p:txBody>
      </p:sp>
      <p:sp>
        <p:nvSpPr>
          <p:cNvPr id="880" name="ftr ph"/>
          <p:cNvSpPr>
            <a:spLocks noGrp="1"/>
          </p:cNvSpPr>
          <p:nvPr>
            <p:ph type="ftr" sz="quarter" idx="3"/>
          </p:nvPr>
        </p:nvSpPr>
        <p:spPr>
          <a:xfrm>
            <a:off x="682208" y="5705856"/>
            <a:ext cx="83273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  <p:sp>
        <p:nvSpPr>
          <p:cNvPr id="881" name="sldNum ph"/>
          <p:cNvSpPr>
            <a:spLocks noGrp="1"/>
          </p:cNvSpPr>
          <p:nvPr>
            <p:ph type="sldNum" sz="quarter" idx="4"/>
          </p:nvPr>
        </p:nvSpPr>
        <p:spPr>
          <a:xfrm>
            <a:off x="11275690" y="5705856"/>
            <a:ext cx="399912" cy="23774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950">
                <a:solidFill>
                  <a:srgbClr val="6C777D"/>
                </a:solidFill>
                <a:latin typeface="Lato" pitchFamily="34" charset="0"/>
              </a:defRPr>
            </a:lvl1pPr>
          </a:lstStyle>
          <a:p>
            <a:fld id="{B1F3E1CD-0002-4C0D-9C7B-000000000881}" type="slidenum">
              <a:rPr lang="en-ZA" smtClean="0"/>
              <a:t>‹#›</a:t>
            </a:fld>
            <a:endParaRPr lang="en-ZA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– Next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depicts a solid, uniform blue background.&#10;&#10;AI-generated content may be incorrect.">
            <a:extLst>
              <a:ext uri="{FF2B5EF4-FFF2-40B4-BE49-F238E27FC236}">
                <a16:creationId xmlns:a16="http://schemas.microsoft.com/office/drawing/2014/main" id="{F442F0E0-DFA1-F4B7-340F-D9B500A0B6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" y="0"/>
            <a:ext cx="12190815" cy="6858000"/>
          </a:xfrm>
          <a:prstGeom prst="rect">
            <a:avLst/>
          </a:prstGeom>
        </p:spPr>
      </p:pic>
      <p:sp>
        <p:nvSpPr>
          <p:cNvPr id="6" name="Title 1"/>
          <p:cNvSpPr txBox="1">
            <a:spLocks noGrp="1"/>
          </p:cNvSpPr>
          <p:nvPr>
            <p:ph type="title"/>
          </p:nvPr>
        </p:nvSpPr>
        <p:spPr>
          <a:xfrm>
            <a:off x="530352" y="1737360"/>
            <a:ext cx="10552176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FFFFFF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FFFFFF"/>
                </a:solidFill>
                <a:latin typeface="Lato"/>
              </a:rPr>
              <a:t>Click to edit Master title style</a:t>
            </a:r>
            <a:endParaRPr sz="3000" b="1" i="0">
              <a:solidFill>
                <a:srgbClr val="FFFFFF"/>
              </a:solidFill>
              <a:latin typeface="Lato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Kicker"/>
          <p:cNvSpPr txBox="1">
            <a:spLocks noGrp="1"/>
          </p:cNvSpPr>
          <p:nvPr>
            <p:ph type="body" idx="11"/>
          </p:nvPr>
        </p:nvSpPr>
        <p:spPr>
          <a:xfrm>
            <a:off x="548640" y="13716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89C1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BDD3F0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Numbered Next Steps"/>
          <p:cNvSpPr txBox="1">
            <a:spLocks noGrp="1"/>
          </p:cNvSpPr>
          <p:nvPr>
            <p:ph type="body" idx="12"/>
          </p:nvPr>
        </p:nvSpPr>
        <p:spPr>
          <a:xfrm>
            <a:off x="566928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500" b="0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500" b="0" i="0">
                <a:solidFill>
                  <a:srgbClr val="E6EBF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Footer Line"/>
          <p:cNvSpPr txBox="1">
            <a:spLocks noGrp="1"/>
          </p:cNvSpPr>
          <p:nvPr>
            <p:ph type="body" idx="13"/>
          </p:nvPr>
        </p:nvSpPr>
        <p:spPr>
          <a:xfrm>
            <a:off x="548640" y="5532119"/>
            <a:ext cx="10533888" cy="3316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chemeClr val="bg1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BDD3F0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– Br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7468B47-7F6F-2469-0413-CEB456090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2706731"/>
            <a:ext cx="5472289" cy="1805782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defRPr>
            </a:lvl1pPr>
          </a:lstStyle>
          <a:p>
            <a:r>
              <a:rPr lang="en-US" dirty="0"/>
              <a:t>Master title</a:t>
            </a:r>
            <a:endParaRPr lang="en-ZA" dirty="0"/>
          </a:p>
        </p:txBody>
      </p:sp>
      <p:pic>
        <p:nvPicPr>
          <p:cNvPr id="4" name="Picture 3" descr="Photo of Mint Group team members at work">
            <a:extLst>
              <a:ext uri="{FF2B5EF4-FFF2-40B4-BE49-F238E27FC236}">
                <a16:creationId xmlns:a16="http://schemas.microsoft.com/office/drawing/2014/main" id="{0B620D2E-67F0-6D92-0213-B2F447C79D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" y="0"/>
            <a:ext cx="12190814" cy="6857999"/>
          </a:xfrm>
          <a:prstGeom prst="rect">
            <a:avLst/>
          </a:prstGeom>
        </p:spPr>
      </p:pic>
      <p:sp>
        <p:nvSpPr>
          <p:cNvPr id="901" name="Subtitle 2">
            <a:extLst>
              <a:ext uri="{FF2B5EF4-FFF2-40B4-BE49-F238E27FC236}">
                <a16:creationId xmlns:a16="http://schemas.microsoft.com/office/drawing/2014/main" id="{F0E11164-B228-3D2C-100B-F28F034DBE0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48640" y="4178520"/>
            <a:ext cx="5200000" cy="57489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indent="0">
              <a:buNone/>
              <a:defRPr sz="2800" i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sz="2800" i="1">
                <a:solidFill>
                  <a:schemeClr val="accent3"/>
                </a:solidFill>
              </a:rPr>
              <a:t>Click to edit Master text styles</a:t>
            </a:r>
          </a:p>
        </p:txBody>
      </p:sp>
      <p:sp>
        <p:nvSpPr>
          <p:cNvPr id="1211" name="Kicker 11"/>
          <p:cNvSpPr>
            <a:spLocks noGrp="1"/>
          </p:cNvSpPr>
          <p:nvPr>
            <p:ph type="body" idx="11"/>
          </p:nvPr>
        </p:nvSpPr>
        <p:spPr>
          <a:xfrm>
            <a:off x="548640" y="458000"/>
            <a:ext cx="5200000" cy="32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1400" b="1" i="0" cap="all">
                <a:solidFill>
                  <a:srgbClr val="89C146"/>
                </a:solidFill>
                <a:latin typeface="Lato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03" name="Abstract 3"/>
          <p:cNvSpPr>
            <a:spLocks noGrp="1"/>
          </p:cNvSpPr>
          <p:nvPr>
            <p:ph type="body" idx="3"/>
          </p:nvPr>
        </p:nvSpPr>
        <p:spPr>
          <a:xfrm>
            <a:off x="548640" y="5620000"/>
            <a:ext cx="5100000" cy="62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1400" b="0" i="1">
                <a:solidFill>
                  <a:srgbClr val="CFD8DB"/>
                </a:solidFill>
                <a:latin typeface="Lato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04" name="Prepared-by 4"/>
          <p:cNvSpPr>
            <a:spLocks noGrp="1"/>
          </p:cNvSpPr>
          <p:nvPr>
            <p:ph type="body" idx="4"/>
          </p:nvPr>
        </p:nvSpPr>
        <p:spPr>
          <a:xfrm>
            <a:off x="548640" y="6330000"/>
            <a:ext cx="5600000" cy="2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1400" b="1" i="0">
                <a:solidFill>
                  <a:schemeClr val="bg1"/>
                </a:solidFill>
                <a:latin typeface="Lato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35496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8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8005" y="841248"/>
            <a:ext cx="10897845" cy="54864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buNone/>
              <a:defRPr sz="2600" b="1">
                <a:solidFill>
                  <a:srgbClr val="184B9A"/>
                </a:solidFill>
                <a:latin typeface="Lato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3" name="Kicker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7094779" cy="27432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Body 12"/>
          <p:cNvSpPr>
            <a:spLocks noGrp="1"/>
          </p:cNvSpPr>
          <p:nvPr>
            <p:ph type="body" idx="12"/>
          </p:nvPr>
        </p:nvSpPr>
        <p:spPr>
          <a:xfrm>
            <a:off x="718005" y="1400000"/>
            <a:ext cx="6414457" cy="470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1400" b="0" i="0">
                <a:solidFill>
                  <a:srgbClr val="184B9A"/>
                </a:solidFill>
                <a:latin typeface="Lato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20"/>
          <p:cNvSpPr>
            <a:spLocks noGrp="1"/>
          </p:cNvSpPr>
          <p:nvPr>
            <p:ph type="pic" idx="20"/>
          </p:nvPr>
        </p:nvSpPr>
        <p:spPr>
          <a:xfrm>
            <a:off x="7358983" y="1400000"/>
            <a:ext cx="4256867" cy="4700000"/>
          </a:xfrm>
          <a:prstGeom prst="roundRect">
            <a:avLst>
              <a:gd name="adj" fmla="val 6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9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4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4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73570" y="1842516"/>
            <a:ext cx="5065555" cy="457200"/>
          </a:xfrm>
          <a:prstGeom prst="roundRect">
            <a:avLst>
              <a:gd name="adj" fmla="val 25000"/>
            </a:avLst>
          </a:prstGeom>
          <a:solidFill>
            <a:srgbClr val="24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lumn Heading"/>
          <p:cNvSpPr txBox="1">
            <a:spLocks noGrp="1"/>
          </p:cNvSpPr>
          <p:nvPr>
            <p:ph type="body" idx="20"/>
          </p:nvPr>
        </p:nvSpPr>
        <p:spPr>
          <a:xfrm>
            <a:off x="851308" y="1933956"/>
            <a:ext cx="4710078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3570" y="2391156"/>
            <a:ext cx="5065555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Column Points"/>
          <p:cNvSpPr txBox="1">
            <a:spLocks noGrp="1"/>
          </p:cNvSpPr>
          <p:nvPr>
            <p:ph type="body" idx="21"/>
          </p:nvPr>
        </p:nvSpPr>
        <p:spPr>
          <a:xfrm>
            <a:off x="851308" y="2574036"/>
            <a:ext cx="4710078" cy="205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3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5733" y="1842516"/>
            <a:ext cx="5065555" cy="457200"/>
          </a:xfrm>
          <a:prstGeom prst="roundRect">
            <a:avLst>
              <a:gd name="adj" fmla="val 25000"/>
            </a:avLst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Column Heading"/>
          <p:cNvSpPr txBox="1">
            <a:spLocks noGrp="1"/>
          </p:cNvSpPr>
          <p:nvPr>
            <p:ph type="body" idx="22"/>
          </p:nvPr>
        </p:nvSpPr>
        <p:spPr>
          <a:xfrm>
            <a:off x="6183472" y="1933956"/>
            <a:ext cx="4710078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5733" y="2391156"/>
            <a:ext cx="5065555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lumn Points"/>
          <p:cNvSpPr txBox="1">
            <a:spLocks noGrp="1"/>
          </p:cNvSpPr>
          <p:nvPr>
            <p:ph type="body" idx="23"/>
          </p:nvPr>
        </p:nvSpPr>
        <p:spPr>
          <a:xfrm>
            <a:off x="6183472" y="2574036"/>
            <a:ext cx="4710078" cy="205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3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Verdict Callout"/>
          <p:cNvSpPr txBox="1">
            <a:spLocks noGrp="1"/>
          </p:cNvSpPr>
          <p:nvPr>
            <p:ph type="body" idx="40"/>
          </p:nvPr>
        </p:nvSpPr>
        <p:spPr>
          <a:xfrm>
            <a:off x="673570" y="4951476"/>
            <a:ext cx="10397718" cy="685800"/>
          </a:xfrm>
          <a:prstGeom prst="roundRect">
            <a:avLst>
              <a:gd name="adj" fmla="val 12000"/>
            </a:avLst>
          </a:prstGeom>
          <a:solidFill>
            <a:srgbClr val="E9F3F7"/>
          </a:solidFill>
        </p:spPr>
        <p:txBody>
          <a:bodyPr wrap="square" lIns="274320" tIns="73152" rIns="274320" bIns="73152" anchor="ctr">
            <a:normAutofit/>
          </a:bodyPr>
          <a:lstStyle>
            <a:lvl1pPr marL="0" indent="0" algn="ctr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– Full Bleed">
    <p:bg>
      <p:bgPr>
        <a:solidFill>
          <a:srgbClr val="184B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563DF1-CEA1-3032-2DA2-6331CECFE7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03" name="Kicker"/>
          <p:cNvSpPr txBox="1">
            <a:spLocks noGrp="1"/>
          </p:cNvSpPr>
          <p:nvPr>
            <p:ph type="body" idx="11"/>
          </p:nvPr>
        </p:nvSpPr>
        <p:spPr>
          <a:xfrm>
            <a:off x="822960" y="1828800"/>
            <a:ext cx="7315200" cy="320040"/>
          </a:xfrm>
          <a:prstGeom prst="roundRect">
            <a:avLst>
              <a:gd name="adj" fmla="val 8000"/>
            </a:avLst>
          </a:prstGeom>
        </p:spPr>
        <p:txBody>
          <a:bodyPr wrap="square" lIns="182880" tIns="91440" rIns="182880" bIns="91440" anchor="ctr">
            <a:normAutofit/>
          </a:bodyPr>
          <a:lstStyle>
            <a:lvl1pPr marL="0" indent="0" algn="l">
              <a:buNone/>
              <a:defRPr sz="1400" b="1" i="0">
                <a:solidFill>
                  <a:srgbClr val="89C146"/>
                </a:solidFill>
                <a:latin typeface="Lato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4" name="Title 1"/>
          <p:cNvSpPr txBox="1">
            <a:spLocks noGrp="1"/>
          </p:cNvSpPr>
          <p:nvPr>
            <p:ph type="title"/>
          </p:nvPr>
        </p:nvSpPr>
        <p:spPr>
          <a:xfrm>
            <a:off x="804672" y="2286000"/>
            <a:ext cx="10515600" cy="1463040"/>
          </a:xfrm>
          <a:prstGeom prst="roundRect">
            <a:avLst>
              <a:gd name="adj" fmla="val 8000"/>
            </a:avLst>
          </a:prstGeom>
        </p:spPr>
        <p:txBody>
          <a:bodyPr wrap="square" lIns="182880" tIns="91440" rIns="182880" bIns="91440" anchor="ctr">
            <a:normAutofit/>
          </a:bodyPr>
          <a:lstStyle>
            <a:lvl1pPr marL="0" indent="0" algn="l">
              <a:buNone/>
              <a:defRPr sz="3600" b="0" i="0">
                <a:solidFill>
                  <a:srgbClr val="FFFFFF"/>
                </a:solidFill>
                <a:latin typeface="Lato Light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5" name="Supporting Line"/>
          <p:cNvSpPr txBox="1">
            <a:spLocks noGrp="1"/>
          </p:cNvSpPr>
          <p:nvPr>
            <p:ph type="body" idx="2"/>
          </p:nvPr>
        </p:nvSpPr>
        <p:spPr>
          <a:xfrm>
            <a:off x="822960" y="4023360"/>
            <a:ext cx="8229600" cy="365760"/>
          </a:xfrm>
          <a:prstGeom prst="roundRect">
            <a:avLst>
              <a:gd name="adj" fmla="val 8000"/>
            </a:avLst>
          </a:prstGeom>
        </p:spPr>
        <p:txBody>
          <a:bodyPr wrap="square" lIns="182880" tIns="91440" rIns="182880" bIns="91440" anchor="ctr">
            <a:normAutofit/>
          </a:bodyPr>
          <a:lstStyle>
            <a:lvl1pPr marL="0" indent="0" algn="l">
              <a:buNone/>
              <a:defRPr sz="1500" b="0" i="0">
                <a:solidFill>
                  <a:srgbClr val="FFFFFF"/>
                </a:solidFill>
                <a:latin typeface="Lato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PI – 4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1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64684" y="2162556"/>
            <a:ext cx="2452795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8005" y="2162556"/>
            <a:ext cx="2346152" cy="68580"/>
          </a:xfrm>
          <a:prstGeom prst="rect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ig Number"/>
          <p:cNvSpPr txBox="1">
            <a:spLocks noGrp="1"/>
          </p:cNvSpPr>
          <p:nvPr>
            <p:ph type="body" idx="20"/>
          </p:nvPr>
        </p:nvSpPr>
        <p:spPr>
          <a:xfrm>
            <a:off x="797988" y="2574036"/>
            <a:ext cx="2186187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34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ctr"/>
            <a:r>
              <a:rPr lang="en-US" sz="34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Stat Label"/>
          <p:cNvSpPr txBox="1">
            <a:spLocks noGrp="1"/>
          </p:cNvSpPr>
          <p:nvPr>
            <p:ph type="body" idx="21"/>
          </p:nvPr>
        </p:nvSpPr>
        <p:spPr>
          <a:xfrm>
            <a:off x="797988" y="3396996"/>
            <a:ext cx="2186187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ctr">
              <a:lnSpc>
                <a:spcPct val="110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2992" y="2162556"/>
            <a:ext cx="2452795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66313" y="2162556"/>
            <a:ext cx="2346152" cy="68580"/>
          </a:xfrm>
          <a:prstGeom prst="rect">
            <a:avLst/>
          </a:prstGeom>
          <a:solidFill>
            <a:srgbClr val="24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ig Number"/>
          <p:cNvSpPr txBox="1">
            <a:spLocks noGrp="1"/>
          </p:cNvSpPr>
          <p:nvPr>
            <p:ph type="body" idx="22"/>
          </p:nvPr>
        </p:nvSpPr>
        <p:spPr>
          <a:xfrm>
            <a:off x="3446296" y="2574036"/>
            <a:ext cx="2186187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34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ctr"/>
            <a:r>
              <a:rPr lang="en-US" sz="34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2" name="Stat Label"/>
          <p:cNvSpPr txBox="1">
            <a:spLocks noGrp="1"/>
          </p:cNvSpPr>
          <p:nvPr>
            <p:ph type="body" idx="23"/>
          </p:nvPr>
        </p:nvSpPr>
        <p:spPr>
          <a:xfrm>
            <a:off x="3446296" y="3396996"/>
            <a:ext cx="2186187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ctr">
              <a:lnSpc>
                <a:spcPct val="110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61300" y="2162556"/>
            <a:ext cx="2452795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14621" y="2162556"/>
            <a:ext cx="2346152" cy="68580"/>
          </a:xfrm>
          <a:prstGeom prst="rect">
            <a:avLst/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ig Number"/>
          <p:cNvSpPr txBox="1">
            <a:spLocks noGrp="1"/>
          </p:cNvSpPr>
          <p:nvPr>
            <p:ph type="body" idx="24"/>
          </p:nvPr>
        </p:nvSpPr>
        <p:spPr>
          <a:xfrm>
            <a:off x="6094604" y="2574036"/>
            <a:ext cx="2186187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34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ctr"/>
            <a:r>
              <a:rPr lang="en-US" sz="34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6" name="Stat Label"/>
          <p:cNvSpPr txBox="1">
            <a:spLocks noGrp="1"/>
          </p:cNvSpPr>
          <p:nvPr>
            <p:ph type="body" idx="25"/>
          </p:nvPr>
        </p:nvSpPr>
        <p:spPr>
          <a:xfrm>
            <a:off x="6094604" y="3396996"/>
            <a:ext cx="2186187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ctr">
              <a:lnSpc>
                <a:spcPct val="110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09608" y="2162556"/>
            <a:ext cx="2452795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662929" y="2162556"/>
            <a:ext cx="2346152" cy="68580"/>
          </a:xfrm>
          <a:prstGeom prst="rect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ig Number"/>
          <p:cNvSpPr txBox="1">
            <a:spLocks noGrp="1"/>
          </p:cNvSpPr>
          <p:nvPr>
            <p:ph type="body" idx="26"/>
          </p:nvPr>
        </p:nvSpPr>
        <p:spPr>
          <a:xfrm>
            <a:off x="8742912" y="2574036"/>
            <a:ext cx="2186187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34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ctr"/>
            <a:r>
              <a:rPr lang="en-US" sz="34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0" name="Stat Label"/>
          <p:cNvSpPr txBox="1">
            <a:spLocks noGrp="1"/>
          </p:cNvSpPr>
          <p:nvPr>
            <p:ph type="body" idx="27"/>
          </p:nvPr>
        </p:nvSpPr>
        <p:spPr>
          <a:xfrm>
            <a:off x="8742912" y="3396996"/>
            <a:ext cx="2186187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ctr">
              <a:lnSpc>
                <a:spcPct val="110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21" name="Context Line"/>
          <p:cNvSpPr txBox="1">
            <a:spLocks noGrp="1"/>
          </p:cNvSpPr>
          <p:nvPr>
            <p:ph type="body" idx="40"/>
          </p:nvPr>
        </p:nvSpPr>
        <p:spPr>
          <a:xfrm>
            <a:off x="664684" y="4814316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0" i="1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0" i="1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 – 4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2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8005" y="2112264"/>
            <a:ext cx="2519447" cy="457200"/>
          </a:xfrm>
          <a:prstGeom prst="roundRect">
            <a:avLst>
              <a:gd name="adj" fmla="val 30000"/>
            </a:avLst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Phase + Timeframe"/>
          <p:cNvSpPr txBox="1">
            <a:spLocks noGrp="1"/>
          </p:cNvSpPr>
          <p:nvPr>
            <p:ph type="body" idx="20"/>
          </p:nvPr>
        </p:nvSpPr>
        <p:spPr>
          <a:xfrm>
            <a:off x="851309" y="2203704"/>
            <a:ext cx="22528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Phase Milestones"/>
          <p:cNvSpPr txBox="1">
            <a:spLocks noGrp="1"/>
          </p:cNvSpPr>
          <p:nvPr>
            <p:ph type="body" idx="21"/>
          </p:nvPr>
        </p:nvSpPr>
        <p:spPr>
          <a:xfrm>
            <a:off x="762439" y="2752344"/>
            <a:ext cx="2430578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171450" indent="-171450" algn="l">
              <a:lnSpc>
                <a:spcPct val="115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4095" y="2112264"/>
            <a:ext cx="2519447" cy="457200"/>
          </a:xfrm>
          <a:prstGeom prst="roundRect">
            <a:avLst>
              <a:gd name="adj" fmla="val 30000"/>
            </a:avLst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hase + Timeframe"/>
          <p:cNvSpPr txBox="1">
            <a:spLocks noGrp="1"/>
          </p:cNvSpPr>
          <p:nvPr>
            <p:ph type="body" idx="22"/>
          </p:nvPr>
        </p:nvSpPr>
        <p:spPr>
          <a:xfrm>
            <a:off x="3477399" y="2203704"/>
            <a:ext cx="22528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Phase Milestones"/>
          <p:cNvSpPr txBox="1">
            <a:spLocks noGrp="1"/>
          </p:cNvSpPr>
          <p:nvPr>
            <p:ph type="body" idx="23"/>
          </p:nvPr>
        </p:nvSpPr>
        <p:spPr>
          <a:xfrm>
            <a:off x="3388530" y="2752344"/>
            <a:ext cx="2430578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171450" indent="-171450" algn="l">
              <a:lnSpc>
                <a:spcPct val="115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0186" y="2112264"/>
            <a:ext cx="2519447" cy="457200"/>
          </a:xfrm>
          <a:prstGeom prst="roundRect">
            <a:avLst>
              <a:gd name="adj" fmla="val 30000"/>
            </a:avLst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hase + Timeframe"/>
          <p:cNvSpPr txBox="1">
            <a:spLocks noGrp="1"/>
          </p:cNvSpPr>
          <p:nvPr>
            <p:ph type="body" idx="24"/>
          </p:nvPr>
        </p:nvSpPr>
        <p:spPr>
          <a:xfrm>
            <a:off x="6103490" y="2203704"/>
            <a:ext cx="22528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Phase Milestones"/>
          <p:cNvSpPr txBox="1">
            <a:spLocks noGrp="1"/>
          </p:cNvSpPr>
          <p:nvPr>
            <p:ph type="body" idx="25"/>
          </p:nvPr>
        </p:nvSpPr>
        <p:spPr>
          <a:xfrm>
            <a:off x="6014621" y="2752344"/>
            <a:ext cx="2430578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171450" indent="-171450" algn="l">
              <a:lnSpc>
                <a:spcPct val="115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6277" y="2112264"/>
            <a:ext cx="2519447" cy="457200"/>
          </a:xfrm>
          <a:prstGeom prst="roundRect">
            <a:avLst>
              <a:gd name="adj" fmla="val 30000"/>
            </a:avLst>
          </a:prstGeom>
          <a:solidFill>
            <a:srgbClr val="62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hase + Timeframe"/>
          <p:cNvSpPr txBox="1">
            <a:spLocks noGrp="1"/>
          </p:cNvSpPr>
          <p:nvPr>
            <p:ph type="body" idx="26"/>
          </p:nvPr>
        </p:nvSpPr>
        <p:spPr>
          <a:xfrm>
            <a:off x="8729581" y="2203704"/>
            <a:ext cx="22528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6" name="Phase Milestones"/>
          <p:cNvSpPr txBox="1">
            <a:spLocks noGrp="1"/>
          </p:cNvSpPr>
          <p:nvPr>
            <p:ph type="body" idx="27"/>
          </p:nvPr>
        </p:nvSpPr>
        <p:spPr>
          <a:xfrm>
            <a:off x="8640711" y="2752344"/>
            <a:ext cx="2430578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171450" indent="-171450" algn="l">
              <a:lnSpc>
                <a:spcPct val="115000"/>
              </a:lnSpc>
              <a:buNone/>
              <a:defRPr sz="135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Note"/>
          <p:cNvSpPr txBox="1">
            <a:spLocks noGrp="1"/>
          </p:cNvSpPr>
          <p:nvPr>
            <p:ph type="body" idx="40"/>
          </p:nvPr>
        </p:nvSpPr>
        <p:spPr>
          <a:xfrm>
            <a:off x="718005" y="4946904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0" i="1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0" i="1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3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6" y="841248"/>
            <a:ext cx="10913162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5" name="Chart"/>
          <p:cNvSpPr txBox="1">
            <a:spLocks noGrp="1"/>
          </p:cNvSpPr>
          <p:nvPr>
            <p:ph type="chart" idx="10"/>
          </p:nvPr>
        </p:nvSpPr>
        <p:spPr>
          <a:xfrm>
            <a:off x="718005" y="1417319"/>
            <a:ext cx="7136212" cy="387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/>
              <a:t>Click icon to add chart</a:t>
            </a:r>
            <a:endParaRPr dirty="0"/>
          </a:p>
        </p:txBody>
      </p:sp>
      <p:sp>
        <p:nvSpPr>
          <p:cNvPr id="6" name="Takeaway Kicker"/>
          <p:cNvSpPr txBox="1">
            <a:spLocks noGrp="1"/>
          </p:cNvSpPr>
          <p:nvPr>
            <p:ph type="body" idx="13"/>
          </p:nvPr>
        </p:nvSpPr>
        <p:spPr>
          <a:xfrm>
            <a:off x="8165261" y="1645920"/>
            <a:ext cx="3465906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Takeaway Text"/>
          <p:cNvSpPr txBox="1">
            <a:spLocks noGrp="1"/>
          </p:cNvSpPr>
          <p:nvPr>
            <p:ph type="body" idx="14"/>
          </p:nvPr>
        </p:nvSpPr>
        <p:spPr>
          <a:xfrm>
            <a:off x="8165261" y="2057400"/>
            <a:ext cx="3465906" cy="2560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5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25000"/>
              </a:lnSpc>
            </a:pPr>
            <a:r>
              <a:rPr lang="en-US" sz="1500" b="1" i="0">
                <a:solidFill>
                  <a:srgbClr val="2A3338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Source Line"/>
          <p:cNvSpPr txBox="1">
            <a:spLocks noGrp="1"/>
          </p:cNvSpPr>
          <p:nvPr>
            <p:ph type="body" idx="41"/>
          </p:nvPr>
        </p:nvSpPr>
        <p:spPr>
          <a:xfrm>
            <a:off x="718005" y="5623560"/>
            <a:ext cx="6958474" cy="3877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150" b="0" i="1">
                <a:solidFill>
                  <a:srgbClr val="6C777D"/>
                </a:solidFill>
                <a:latin typeface="Lato"/>
              </a:defRPr>
            </a:lvl1pPr>
          </a:lstStyle>
          <a:p>
            <a:pPr lvl="0" algn="l"/>
            <a:r>
              <a:rPr lang="en-US" sz="1150" b="0" i="1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W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4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4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0" name="Picture Placeholder 20"/>
          <p:cNvSpPr>
            <a:spLocks noGrp="1"/>
          </p:cNvSpPr>
          <p:nvPr>
            <p:ph type="pic" idx="20"/>
          </p:nvPr>
        </p:nvSpPr>
        <p:spPr>
          <a:xfrm>
            <a:off x="673571" y="175564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 dirty="0"/>
          </a:p>
        </p:txBody>
      </p:sp>
      <p:sp>
        <p:nvSpPr>
          <p:cNvPr id="921" name="Rounded Rectangle 920"/>
          <p:cNvSpPr/>
          <p:nvPr/>
        </p:nvSpPr>
        <p:spPr>
          <a:xfrm>
            <a:off x="3233009" y="164592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Picture Placeholder 21"/>
          <p:cNvSpPr>
            <a:spLocks noGrp="1"/>
          </p:cNvSpPr>
          <p:nvPr>
            <p:ph type="pic" idx="21"/>
          </p:nvPr>
        </p:nvSpPr>
        <p:spPr>
          <a:xfrm>
            <a:off x="3339653" y="175564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2" name="Rounded Rectangle 921"/>
          <p:cNvSpPr/>
          <p:nvPr/>
        </p:nvSpPr>
        <p:spPr>
          <a:xfrm>
            <a:off x="5899091" y="164592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Picture Placeholder 22"/>
          <p:cNvSpPr>
            <a:spLocks noGrp="1"/>
          </p:cNvSpPr>
          <p:nvPr>
            <p:ph type="pic" idx="22"/>
          </p:nvPr>
        </p:nvSpPr>
        <p:spPr>
          <a:xfrm>
            <a:off x="6005735" y="175564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3" name="Rounded Rectangle 922"/>
          <p:cNvSpPr/>
          <p:nvPr/>
        </p:nvSpPr>
        <p:spPr>
          <a:xfrm>
            <a:off x="8565173" y="164592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icture Placeholder 23"/>
          <p:cNvSpPr>
            <a:spLocks noGrp="1"/>
          </p:cNvSpPr>
          <p:nvPr>
            <p:ph type="pic" idx="23"/>
          </p:nvPr>
        </p:nvSpPr>
        <p:spPr>
          <a:xfrm>
            <a:off x="8671817" y="175564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4" name="Rounded Rectangle 923"/>
          <p:cNvSpPr/>
          <p:nvPr/>
        </p:nvSpPr>
        <p:spPr>
          <a:xfrm>
            <a:off x="566928" y="338328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icture Placeholder 24"/>
          <p:cNvSpPr>
            <a:spLocks noGrp="1"/>
          </p:cNvSpPr>
          <p:nvPr>
            <p:ph type="pic" idx="24"/>
          </p:nvPr>
        </p:nvSpPr>
        <p:spPr>
          <a:xfrm>
            <a:off x="673571" y="349300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5" name="Rounded Rectangle 924"/>
          <p:cNvSpPr/>
          <p:nvPr/>
        </p:nvSpPr>
        <p:spPr>
          <a:xfrm>
            <a:off x="3233009" y="338328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icture Placeholder 25"/>
          <p:cNvSpPr>
            <a:spLocks noGrp="1"/>
          </p:cNvSpPr>
          <p:nvPr>
            <p:ph type="pic" idx="25"/>
          </p:nvPr>
        </p:nvSpPr>
        <p:spPr>
          <a:xfrm>
            <a:off x="3339653" y="349300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6" name="Rounded Rectangle 925"/>
          <p:cNvSpPr/>
          <p:nvPr/>
        </p:nvSpPr>
        <p:spPr>
          <a:xfrm>
            <a:off x="5899091" y="338328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icture Placeholder 26"/>
          <p:cNvSpPr>
            <a:spLocks noGrp="1"/>
          </p:cNvSpPr>
          <p:nvPr>
            <p:ph type="pic" idx="26"/>
          </p:nvPr>
        </p:nvSpPr>
        <p:spPr>
          <a:xfrm>
            <a:off x="6005735" y="349300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7" name="Rounded Rectangle 926"/>
          <p:cNvSpPr/>
          <p:nvPr/>
        </p:nvSpPr>
        <p:spPr>
          <a:xfrm>
            <a:off x="8565173" y="3383280"/>
            <a:ext cx="239947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icture Placeholder 27"/>
          <p:cNvSpPr>
            <a:spLocks noGrp="1"/>
          </p:cNvSpPr>
          <p:nvPr>
            <p:ph type="pic" idx="27"/>
          </p:nvPr>
        </p:nvSpPr>
        <p:spPr>
          <a:xfrm>
            <a:off x="8671817" y="3493008"/>
            <a:ext cx="2186187" cy="1197864"/>
          </a:xfrm>
          <a:prstGeom prst="roundRect">
            <a:avLst>
              <a:gd name="adj" fmla="val 9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928" name="Optional Caption"/>
          <p:cNvSpPr txBox="1">
            <a:spLocks noGrp="1"/>
          </p:cNvSpPr>
          <p:nvPr>
            <p:ph type="body" idx="40"/>
          </p:nvPr>
        </p:nvSpPr>
        <p:spPr>
          <a:xfrm>
            <a:off x="566928" y="5029200"/>
            <a:ext cx="11019805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400" b="0" i="1">
                <a:solidFill>
                  <a:srgbClr val="184B9A"/>
                </a:solidFill>
                <a:latin typeface="Lato"/>
              </a:defRPr>
            </a:lvl1pPr>
          </a:lstStyle>
          <a:p>
            <a:pPr lvl="0" algn="ctr"/>
            <a:r>
              <a:rPr lang="en-US" sz="1400" b="0" i="1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5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9101" y="822960"/>
            <a:ext cx="1777387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 dirty="0">
                <a:solidFill>
                  <a:srgbClr val="89C146"/>
                </a:solidFill>
                <a:latin typeface="Lato"/>
              </a:rPr>
              <a:t>“</a:t>
            </a:r>
          </a:p>
        </p:txBody>
      </p:sp>
      <p:sp>
        <p:nvSpPr>
          <p:cNvPr id="4" name="Quotation"/>
          <p:cNvSpPr txBox="1">
            <a:spLocks noGrp="1"/>
          </p:cNvSpPr>
          <p:nvPr>
            <p:ph type="body" idx="20"/>
          </p:nvPr>
        </p:nvSpPr>
        <p:spPr>
          <a:xfrm>
            <a:off x="1588926" y="1188720"/>
            <a:ext cx="8687188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2500" b="0" i="1">
                <a:solidFill>
                  <a:srgbClr val="243C7A"/>
                </a:solidFill>
                <a:latin typeface="Lato"/>
              </a:defRPr>
            </a:lvl1pPr>
          </a:lstStyle>
          <a:p>
            <a:pPr lvl="0" algn="l">
              <a:lnSpc>
                <a:spcPct val="125000"/>
              </a:lnSpc>
            </a:pPr>
            <a:r>
              <a:rPr lang="en-US" sz="2500" b="0" i="1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Attribution Name"/>
          <p:cNvSpPr txBox="1">
            <a:spLocks noGrp="1"/>
          </p:cNvSpPr>
          <p:nvPr>
            <p:ph type="body" idx="21"/>
          </p:nvPr>
        </p:nvSpPr>
        <p:spPr>
          <a:xfrm>
            <a:off x="1588926" y="4114800"/>
            <a:ext cx="6220857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2A3338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Attribution Role"/>
          <p:cNvSpPr txBox="1">
            <a:spLocks noGrp="1"/>
          </p:cNvSpPr>
          <p:nvPr>
            <p:ph type="body" idx="22"/>
          </p:nvPr>
        </p:nvSpPr>
        <p:spPr>
          <a:xfrm>
            <a:off x="1588926" y="4434840"/>
            <a:ext cx="6220857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/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40" name="Picture Placeholder 30"/>
          <p:cNvSpPr>
            <a:spLocks noGrp="1"/>
          </p:cNvSpPr>
          <p:nvPr>
            <p:ph type="pic" idx="30"/>
          </p:nvPr>
        </p:nvSpPr>
        <p:spPr>
          <a:xfrm>
            <a:off x="9130094" y="3337560"/>
            <a:ext cx="2132865" cy="2194560"/>
          </a:xfrm>
          <a:prstGeom prst="roundRect">
            <a:avLst>
              <a:gd name="adj" fmla="val 50000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Z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C5AD1E-1805-3382-1589-454EA43AB41D}"/>
              </a:ext>
            </a:extLst>
          </p:cNvPr>
          <p:cNvSpPr txBox="1"/>
          <p:nvPr userDrawn="1"/>
        </p:nvSpPr>
        <p:spPr>
          <a:xfrm>
            <a:off x="10345067" y="822960"/>
            <a:ext cx="1777387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ZA" sz="12000" b="1" i="0" dirty="0">
                <a:solidFill>
                  <a:srgbClr val="89C146"/>
                </a:solidFill>
                <a:latin typeface="Lato"/>
              </a:rPr>
              <a:t>”</a:t>
            </a:r>
            <a:endParaRPr sz="12000" b="1" i="0" dirty="0">
              <a:solidFill>
                <a:srgbClr val="89C146"/>
              </a:solidFill>
              <a:latin typeface="Lato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0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2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3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8005" y="1554480"/>
            <a:ext cx="4976686" cy="914400"/>
          </a:xfrm>
          <a:prstGeom prst="roundRect">
            <a:avLst>
              <a:gd name="adj" fmla="val 35000"/>
            </a:avLst>
          </a:prstGeom>
          <a:solidFill>
            <a:srgbClr val="E9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970" y="1773936"/>
            <a:ext cx="462120" cy="475488"/>
          </a:xfrm>
          <a:prstGeom prst="ellipse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970" y="1773936"/>
            <a:ext cx="462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Lato"/>
              </a:rPr>
              <a:t>1</a:t>
            </a:r>
          </a:p>
        </p:txBody>
      </p:sp>
      <p:sp>
        <p:nvSpPr>
          <p:cNvPr id="7" name="Claim Text"/>
          <p:cNvSpPr txBox="1">
            <a:spLocks noGrp="1"/>
          </p:cNvSpPr>
          <p:nvPr>
            <p:ph type="body" idx="20"/>
          </p:nvPr>
        </p:nvSpPr>
        <p:spPr>
          <a:xfrm>
            <a:off x="1517830" y="1700784"/>
            <a:ext cx="3999122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4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400" b="1" i="0">
                <a:solidFill>
                  <a:srgbClr val="2A3338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491" y="1554480"/>
            <a:ext cx="4976686" cy="914400"/>
          </a:xfrm>
          <a:prstGeom prst="roundRect">
            <a:avLst>
              <a:gd name="adj" fmla="val 35000"/>
            </a:avLst>
          </a:prstGeom>
          <a:solidFill>
            <a:srgbClr val="E9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263456" y="1773936"/>
            <a:ext cx="462120" cy="475488"/>
          </a:xfrm>
          <a:prstGeom prst="ellipse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456" y="1773936"/>
            <a:ext cx="462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Lato"/>
              </a:rPr>
              <a:t>2</a:t>
            </a:r>
          </a:p>
        </p:txBody>
      </p:sp>
      <p:sp>
        <p:nvSpPr>
          <p:cNvPr id="11" name="Claim Text"/>
          <p:cNvSpPr txBox="1">
            <a:spLocks noGrp="1"/>
          </p:cNvSpPr>
          <p:nvPr>
            <p:ph type="body" idx="21"/>
          </p:nvPr>
        </p:nvSpPr>
        <p:spPr>
          <a:xfrm>
            <a:off x="6903316" y="1700784"/>
            <a:ext cx="3999122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4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400" b="1" i="0">
                <a:solidFill>
                  <a:srgbClr val="2A3338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2" name="The Pivot Question"/>
          <p:cNvSpPr txBox="1">
            <a:spLocks noGrp="1"/>
          </p:cNvSpPr>
          <p:nvPr>
            <p:ph type="body" idx="22"/>
          </p:nvPr>
        </p:nvSpPr>
        <p:spPr>
          <a:xfrm>
            <a:off x="1322317" y="2834640"/>
            <a:ext cx="9509025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5000"/>
              </a:lnSpc>
              <a:buNone/>
              <a:defRPr sz="22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ctr">
              <a:lnSpc>
                <a:spcPct val="115000"/>
              </a:lnSpc>
            </a:pPr>
            <a:r>
              <a:rPr lang="en-US" sz="22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1011" y="3886200"/>
            <a:ext cx="7731636" cy="1051560"/>
          </a:xfrm>
          <a:prstGeom prst="roundRect">
            <a:avLst>
              <a:gd name="adj" fmla="val 18000"/>
            </a:avLst>
          </a:prstGeom>
          <a:solidFill>
            <a:srgbClr val="24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Verdict Statement"/>
          <p:cNvSpPr txBox="1">
            <a:spLocks noGrp="1"/>
          </p:cNvSpPr>
          <p:nvPr>
            <p:ph type="body" idx="23"/>
          </p:nvPr>
        </p:nvSpPr>
        <p:spPr>
          <a:xfrm>
            <a:off x="2566489" y="4069080"/>
            <a:ext cx="702068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lnSpc>
                <a:spcPct val="115000"/>
              </a:lnSpc>
              <a:buNone/>
              <a:defRPr sz="16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ctr">
              <a:lnSpc>
                <a:spcPct val="115000"/>
              </a:lnSpc>
            </a:pPr>
            <a:r>
              <a:rPr lang="en-US" sz="16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5" name="Footnote"/>
          <p:cNvSpPr txBox="1">
            <a:spLocks noGrp="1"/>
          </p:cNvSpPr>
          <p:nvPr>
            <p:ph type="body" idx="24"/>
          </p:nvPr>
        </p:nvSpPr>
        <p:spPr>
          <a:xfrm>
            <a:off x="1322317" y="5212080"/>
            <a:ext cx="9509025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200" b="0" i="1">
                <a:solidFill>
                  <a:srgbClr val="6C777D"/>
                </a:solidFill>
                <a:latin typeface="Lato"/>
              </a:defRPr>
            </a:lvl1pPr>
          </a:lstStyle>
          <a:p>
            <a:pPr lvl="0" algn="ctr"/>
            <a:r>
              <a:rPr lang="en-US" sz="1200" b="0" i="1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1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2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3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4" name="Client Line"/>
          <p:cNvSpPr txBox="1">
            <a:spLocks noGrp="1"/>
          </p:cNvSpPr>
          <p:nvPr>
            <p:ph type="body" idx="13"/>
          </p:nvPr>
        </p:nvSpPr>
        <p:spPr>
          <a:xfrm>
            <a:off x="718005" y="1316736"/>
            <a:ext cx="10664327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50" b="0" i="1">
                <a:solidFill>
                  <a:srgbClr val="475054"/>
                </a:solidFill>
                <a:latin typeface="Lato"/>
              </a:defRPr>
            </a:lvl1pPr>
          </a:lstStyle>
          <a:p>
            <a:pPr lvl="0" algn="l"/>
            <a:r>
              <a:rPr lang="en-US" sz="1350" b="0" i="1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8005" y="1828800"/>
            <a:ext cx="349552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1327" y="1828800"/>
            <a:ext cx="3388886" cy="68580"/>
          </a:xfrm>
          <a:prstGeom prst="rect">
            <a:avLst/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5744" y="2011680"/>
            <a:ext cx="31400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84B9A"/>
                </a:solidFill>
                <a:latin typeface="Lato"/>
              </a:rPr>
              <a:t>CHALLENGE</a:t>
            </a:r>
          </a:p>
        </p:txBody>
      </p:sp>
      <p:sp>
        <p:nvSpPr>
          <p:cNvPr id="8" name="Challenge Text"/>
          <p:cNvSpPr txBox="1">
            <a:spLocks noGrp="1"/>
          </p:cNvSpPr>
          <p:nvPr>
            <p:ph type="body" idx="20"/>
          </p:nvPr>
        </p:nvSpPr>
        <p:spPr>
          <a:xfrm>
            <a:off x="895744" y="2377440"/>
            <a:ext cx="3140052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30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5709" y="1828800"/>
            <a:ext cx="349552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9030" y="1828800"/>
            <a:ext cx="3388886" cy="68580"/>
          </a:xfrm>
          <a:prstGeom prst="rect">
            <a:avLst/>
          </a:prstGeom>
          <a:solidFill>
            <a:srgbClr val="43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3447" y="2011680"/>
            <a:ext cx="31400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439E46"/>
                </a:solidFill>
                <a:latin typeface="Lato"/>
              </a:rPr>
              <a:t>APPROACH</a:t>
            </a:r>
          </a:p>
        </p:txBody>
      </p:sp>
      <p:sp>
        <p:nvSpPr>
          <p:cNvPr id="12" name="Approach Text"/>
          <p:cNvSpPr txBox="1">
            <a:spLocks noGrp="1"/>
          </p:cNvSpPr>
          <p:nvPr>
            <p:ph type="body" idx="21"/>
          </p:nvPr>
        </p:nvSpPr>
        <p:spPr>
          <a:xfrm>
            <a:off x="4613447" y="2377440"/>
            <a:ext cx="3140052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30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12" y="1828800"/>
            <a:ext cx="349552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06733" y="1828800"/>
            <a:ext cx="3388886" cy="68580"/>
          </a:xfrm>
          <a:prstGeom prst="rect">
            <a:avLst/>
          </a:prstGeom>
          <a:solidFill>
            <a:srgbClr val="F15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1151" y="2011680"/>
            <a:ext cx="31400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15927"/>
                </a:solidFill>
                <a:latin typeface="Lato"/>
              </a:rPr>
              <a:t>OUTCOME</a:t>
            </a:r>
          </a:p>
        </p:txBody>
      </p:sp>
      <p:sp>
        <p:nvSpPr>
          <p:cNvPr id="16" name="Outcome Text"/>
          <p:cNvSpPr txBox="1">
            <a:spLocks noGrp="1"/>
          </p:cNvSpPr>
          <p:nvPr>
            <p:ph type="body" idx="22"/>
          </p:nvPr>
        </p:nvSpPr>
        <p:spPr>
          <a:xfrm>
            <a:off x="8331151" y="2377440"/>
            <a:ext cx="3140052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300" b="0" i="0">
                <a:solidFill>
                  <a:srgbClr val="475054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3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Headline Result"/>
          <p:cNvSpPr txBox="1">
            <a:spLocks noGrp="1"/>
          </p:cNvSpPr>
          <p:nvPr>
            <p:ph type="body" idx="40"/>
          </p:nvPr>
        </p:nvSpPr>
        <p:spPr>
          <a:xfrm>
            <a:off x="718005" y="4892040"/>
            <a:ext cx="10930935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1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2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2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3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chemeClr val="accent2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 dirty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4" name="Question"/>
          <p:cNvSpPr txBox="1">
            <a:spLocks noGrp="1"/>
          </p:cNvSpPr>
          <p:nvPr>
            <p:ph type="body" idx="20"/>
          </p:nvPr>
        </p:nvSpPr>
        <p:spPr>
          <a:xfrm>
            <a:off x="718005" y="1600200"/>
            <a:ext cx="5065555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600" b="1" i="0">
                <a:solidFill>
                  <a:schemeClr val="accent5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5" name="Answer"/>
          <p:cNvSpPr txBox="1">
            <a:spLocks noGrp="1"/>
          </p:cNvSpPr>
          <p:nvPr>
            <p:ph type="body" idx="21"/>
          </p:nvPr>
        </p:nvSpPr>
        <p:spPr>
          <a:xfrm>
            <a:off x="718005" y="2167128"/>
            <a:ext cx="5065555" cy="1234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chemeClr val="tx2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Question"/>
          <p:cNvSpPr txBox="1">
            <a:spLocks noGrp="1"/>
          </p:cNvSpPr>
          <p:nvPr>
            <p:ph type="body" idx="22"/>
          </p:nvPr>
        </p:nvSpPr>
        <p:spPr>
          <a:xfrm>
            <a:off x="6103491" y="1600200"/>
            <a:ext cx="5065555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600" b="1" i="0">
                <a:solidFill>
                  <a:schemeClr val="accent5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Answer"/>
          <p:cNvSpPr txBox="1">
            <a:spLocks noGrp="1"/>
          </p:cNvSpPr>
          <p:nvPr>
            <p:ph type="body" idx="23"/>
          </p:nvPr>
        </p:nvSpPr>
        <p:spPr>
          <a:xfrm>
            <a:off x="6103491" y="2167128"/>
            <a:ext cx="5065555" cy="1234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chemeClr val="tx2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Question"/>
          <p:cNvSpPr txBox="1">
            <a:spLocks noGrp="1"/>
          </p:cNvSpPr>
          <p:nvPr>
            <p:ph type="body" idx="24"/>
          </p:nvPr>
        </p:nvSpPr>
        <p:spPr>
          <a:xfrm>
            <a:off x="718005" y="3611880"/>
            <a:ext cx="5065555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600" b="1" i="0">
                <a:solidFill>
                  <a:schemeClr val="accent5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9" name="Answer"/>
          <p:cNvSpPr txBox="1">
            <a:spLocks noGrp="1"/>
          </p:cNvSpPr>
          <p:nvPr>
            <p:ph type="body" idx="25"/>
          </p:nvPr>
        </p:nvSpPr>
        <p:spPr>
          <a:xfrm>
            <a:off x="718005" y="4178808"/>
            <a:ext cx="5065555" cy="1234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chemeClr val="tx2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Question"/>
          <p:cNvSpPr txBox="1">
            <a:spLocks noGrp="1"/>
          </p:cNvSpPr>
          <p:nvPr>
            <p:ph type="body" idx="26"/>
          </p:nvPr>
        </p:nvSpPr>
        <p:spPr>
          <a:xfrm>
            <a:off x="6103491" y="3611880"/>
            <a:ext cx="5065555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600" b="1" i="0">
                <a:solidFill>
                  <a:schemeClr val="accent5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1" name="Answer"/>
          <p:cNvSpPr txBox="1">
            <a:spLocks noGrp="1"/>
          </p:cNvSpPr>
          <p:nvPr>
            <p:ph type="body" idx="27"/>
          </p:nvPr>
        </p:nvSpPr>
        <p:spPr>
          <a:xfrm>
            <a:off x="6103491" y="4178808"/>
            <a:ext cx="5065555" cy="1234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400" b="0" i="0">
                <a:solidFill>
                  <a:schemeClr val="tx2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40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3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1704" name="Connector"/>
          <p:cNvSpPr/>
          <p:nvPr/>
        </p:nvSpPr>
        <p:spPr>
          <a:xfrm>
            <a:off x="9658267" y="2542032"/>
            <a:ext cx="26660" cy="292608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3" name="Connector"/>
          <p:cNvSpPr/>
          <p:nvPr/>
        </p:nvSpPr>
        <p:spPr>
          <a:xfrm>
            <a:off x="6103491" y="2542032"/>
            <a:ext cx="26660" cy="292608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2" name="Connector"/>
          <p:cNvSpPr/>
          <p:nvPr/>
        </p:nvSpPr>
        <p:spPr>
          <a:xfrm>
            <a:off x="2548715" y="2542032"/>
            <a:ext cx="26660" cy="292608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1" name="Connector"/>
          <p:cNvSpPr/>
          <p:nvPr/>
        </p:nvSpPr>
        <p:spPr>
          <a:xfrm>
            <a:off x="2548715" y="2542032"/>
            <a:ext cx="7136211" cy="27432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0" name="Connector"/>
          <p:cNvSpPr/>
          <p:nvPr/>
        </p:nvSpPr>
        <p:spPr>
          <a:xfrm>
            <a:off x="6103491" y="2240280"/>
            <a:ext cx="26660" cy="301752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3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610485" y="1600200"/>
            <a:ext cx="3021559" cy="640080"/>
          </a:xfrm>
          <a:prstGeom prst="roundRect">
            <a:avLst>
              <a:gd name="adj" fmla="val 25000"/>
            </a:avLst>
          </a:prstGeom>
          <a:solidFill>
            <a:srgbClr val="24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op Role"/>
          <p:cNvSpPr txBox="1">
            <a:spLocks noGrp="1"/>
          </p:cNvSpPr>
          <p:nvPr>
            <p:ph type="body" idx="20"/>
          </p:nvPr>
        </p:nvSpPr>
        <p:spPr>
          <a:xfrm>
            <a:off x="4699354" y="1755648"/>
            <a:ext cx="284382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40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ctr"/>
            <a:r>
              <a:rPr lang="en-US" sz="140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5709" y="2834640"/>
            <a:ext cx="3021559" cy="548640"/>
          </a:xfrm>
          <a:prstGeom prst="roundRect">
            <a:avLst>
              <a:gd name="adj" fmla="val 25000"/>
            </a:avLst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Workstream Lead"/>
          <p:cNvSpPr txBox="1">
            <a:spLocks noGrp="1"/>
          </p:cNvSpPr>
          <p:nvPr>
            <p:ph type="body" idx="21"/>
          </p:nvPr>
        </p:nvSpPr>
        <p:spPr>
          <a:xfrm>
            <a:off x="1144579" y="2962656"/>
            <a:ext cx="28438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5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ctr"/>
            <a:r>
              <a:rPr lang="en-US" sz="135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Team Under Lead"/>
          <p:cNvSpPr txBox="1">
            <a:spLocks noGrp="1"/>
          </p:cNvSpPr>
          <p:nvPr>
            <p:ph type="body" idx="24"/>
          </p:nvPr>
        </p:nvSpPr>
        <p:spPr>
          <a:xfrm>
            <a:off x="1055709" y="3566160"/>
            <a:ext cx="3021559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0485" y="2834640"/>
            <a:ext cx="3021559" cy="548640"/>
          </a:xfrm>
          <a:prstGeom prst="roundRect">
            <a:avLst>
              <a:gd name="adj" fmla="val 25000"/>
            </a:avLst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Workstream Lead"/>
          <p:cNvSpPr txBox="1">
            <a:spLocks noGrp="1"/>
          </p:cNvSpPr>
          <p:nvPr>
            <p:ph type="body" idx="22"/>
          </p:nvPr>
        </p:nvSpPr>
        <p:spPr>
          <a:xfrm>
            <a:off x="4699354" y="2962656"/>
            <a:ext cx="28438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5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ctr"/>
            <a:r>
              <a:rPr lang="en-US" sz="135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2" name="Team Under Lead"/>
          <p:cNvSpPr txBox="1">
            <a:spLocks noGrp="1"/>
          </p:cNvSpPr>
          <p:nvPr>
            <p:ph type="body" idx="25"/>
          </p:nvPr>
        </p:nvSpPr>
        <p:spPr>
          <a:xfrm>
            <a:off x="4610485" y="3566160"/>
            <a:ext cx="3021559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261" y="2834640"/>
            <a:ext cx="3021559" cy="548640"/>
          </a:xfrm>
          <a:prstGeom prst="roundRect">
            <a:avLst>
              <a:gd name="adj" fmla="val 25000"/>
            </a:avLst>
          </a:prstGeom>
          <a:solidFill>
            <a:srgbClr val="18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Workstream Lead"/>
          <p:cNvSpPr txBox="1">
            <a:spLocks noGrp="1"/>
          </p:cNvSpPr>
          <p:nvPr>
            <p:ph type="body" idx="23"/>
          </p:nvPr>
        </p:nvSpPr>
        <p:spPr>
          <a:xfrm>
            <a:off x="8254130" y="2962656"/>
            <a:ext cx="28438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50" b="1" i="0">
                <a:solidFill>
                  <a:srgbClr val="FFFFFF"/>
                </a:solidFill>
                <a:latin typeface="Lato"/>
              </a:defRPr>
            </a:lvl1pPr>
          </a:lstStyle>
          <a:p>
            <a:pPr lvl="0" algn="ctr"/>
            <a:r>
              <a:rPr lang="en-US" sz="1350" b="1" i="0">
                <a:solidFill>
                  <a:srgbClr val="FFFFFF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5" name="Team Under Lead"/>
          <p:cNvSpPr txBox="1">
            <a:spLocks noGrp="1"/>
          </p:cNvSpPr>
          <p:nvPr>
            <p:ph type="body" idx="26"/>
          </p:nvPr>
        </p:nvSpPr>
        <p:spPr>
          <a:xfrm>
            <a:off x="8165261" y="3566160"/>
            <a:ext cx="3021559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5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5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6" name="Note"/>
          <p:cNvSpPr txBox="1">
            <a:spLocks noGrp="1"/>
          </p:cNvSpPr>
          <p:nvPr>
            <p:ph type="body" idx="40"/>
          </p:nvPr>
        </p:nvSpPr>
        <p:spPr>
          <a:xfrm>
            <a:off x="718005" y="5120640"/>
            <a:ext cx="10930935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600" b="0" i="1">
                <a:solidFill>
                  <a:srgbClr val="184B9A"/>
                </a:solidFill>
                <a:latin typeface="Lato"/>
              </a:defRPr>
            </a:lvl1pPr>
          </a:lstStyle>
          <a:p>
            <a:pPr lvl="0" algn="l"/>
            <a:r>
              <a:rPr lang="en-US" sz="1600" b="0" i="1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 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4" name="CI Frame">
            <a:extLst>
              <a:ext uri="{FF2B5EF4-FFF2-40B4-BE49-F238E27FC236}">
                <a16:creationId xmlns:a16="http://schemas.microsoft.com/office/drawing/2014/main" id="{22320066-0449-2C38-C64C-B6BCB36F4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7" y="0"/>
            <a:ext cx="12189630" cy="6857999"/>
          </a:xfrm>
          <a:prstGeom prst="rect">
            <a:avLst/>
          </a:prstGeom>
        </p:spPr>
      </p:pic>
      <p:sp>
        <p:nvSpPr>
          <p:cNvPr id="1711" name="Connector"/>
          <p:cNvSpPr/>
          <p:nvPr/>
        </p:nvSpPr>
        <p:spPr>
          <a:xfrm>
            <a:off x="6147926" y="1691640"/>
            <a:ext cx="31104" cy="3566160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10" name="Connector"/>
          <p:cNvSpPr/>
          <p:nvPr/>
        </p:nvSpPr>
        <p:spPr>
          <a:xfrm>
            <a:off x="966840" y="3474720"/>
            <a:ext cx="10397719" cy="32004"/>
          </a:xfrm>
          <a:prstGeom prst="rect">
            <a:avLst/>
          </a:prstGeom>
          <a:solidFill>
            <a:srgbClr val="C5C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Section Kicker"/>
          <p:cNvSpPr txBox="1"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439E46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184B9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3" name="Title 1"/>
          <p:cNvSpPr txBox="1">
            <a:spLocks noGrp="1"/>
          </p:cNvSpPr>
          <p:nvPr>
            <p:ph type="title"/>
          </p:nvPr>
        </p:nvSpPr>
        <p:spPr>
          <a:xfrm>
            <a:off x="718005" y="841248"/>
            <a:ext cx="10646554" cy="44348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600" b="1" i="0">
                <a:solidFill>
                  <a:srgbClr val="184B9A"/>
                </a:solidFill>
                <a:latin typeface="Lato"/>
              </a:defRPr>
            </a:lvl1pPr>
          </a:lstStyle>
          <a:p>
            <a:pPr algn="l"/>
            <a:r>
              <a:rPr lang="en-US" sz="2600" b="1" i="0">
                <a:solidFill>
                  <a:srgbClr val="2A3338"/>
                </a:solidFill>
                <a:latin typeface="Lato"/>
              </a:rPr>
              <a:t>Click to edit Master title style</a:t>
            </a:r>
            <a:endParaRPr sz="2300" b="1" i="0" dirty="0">
              <a:solidFill>
                <a:srgbClr val="2A3338"/>
              </a:solidFill>
              <a:latin typeface="Lato"/>
            </a:endParaRPr>
          </a:p>
        </p:txBody>
      </p:sp>
      <p:sp>
        <p:nvSpPr>
          <p:cNvPr id="6" name="Vertical Axis Label"/>
          <p:cNvSpPr txBox="1">
            <a:spLocks noGrp="1"/>
          </p:cNvSpPr>
          <p:nvPr>
            <p:ph type="body" idx="30"/>
          </p:nvPr>
        </p:nvSpPr>
        <p:spPr>
          <a:xfrm>
            <a:off x="4166138" y="1389888"/>
            <a:ext cx="3999122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400" b="1" i="0">
                <a:solidFill>
                  <a:srgbClr val="6C777D"/>
                </a:solidFill>
                <a:latin typeface="Lato"/>
              </a:defRPr>
            </a:lvl1pPr>
          </a:lstStyle>
          <a:p>
            <a:pPr lvl="0" algn="ctr"/>
            <a:r>
              <a:rPr lang="en-US" sz="1400" b="1" i="0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7" name="Horizontal Axis Label"/>
          <p:cNvSpPr txBox="1">
            <a:spLocks noGrp="1"/>
          </p:cNvSpPr>
          <p:nvPr>
            <p:ph type="body" idx="31"/>
          </p:nvPr>
        </p:nvSpPr>
        <p:spPr>
          <a:xfrm>
            <a:off x="9676041" y="5390388"/>
            <a:ext cx="168851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400" b="1" i="0">
                <a:solidFill>
                  <a:srgbClr val="6C777D"/>
                </a:solidFill>
                <a:latin typeface="Lato"/>
              </a:defRPr>
            </a:lvl1pPr>
          </a:lstStyle>
          <a:p>
            <a:pPr lvl="0" algn="l"/>
            <a:r>
              <a:rPr lang="en-US" sz="1400" b="1" i="0">
                <a:solidFill>
                  <a:srgbClr val="6C777D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6840" y="1783080"/>
            <a:ext cx="4932251" cy="1554480"/>
          </a:xfrm>
          <a:prstGeom prst="roundRect">
            <a:avLst>
              <a:gd name="adj" fmla="val 8000"/>
            </a:avLst>
          </a:prstGeom>
          <a:solidFill>
            <a:srgbClr val="EE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Quadrant Title"/>
          <p:cNvSpPr txBox="1">
            <a:spLocks noGrp="1"/>
          </p:cNvSpPr>
          <p:nvPr>
            <p:ph type="body" idx="20"/>
          </p:nvPr>
        </p:nvSpPr>
        <p:spPr>
          <a:xfrm>
            <a:off x="1189013" y="1920240"/>
            <a:ext cx="448790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0" name="Quadrant Items"/>
          <p:cNvSpPr txBox="1">
            <a:spLocks noGrp="1"/>
          </p:cNvSpPr>
          <p:nvPr>
            <p:ph type="body" idx="21"/>
          </p:nvPr>
        </p:nvSpPr>
        <p:spPr>
          <a:xfrm>
            <a:off x="1189013" y="2286000"/>
            <a:ext cx="448790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3438" y="1783080"/>
            <a:ext cx="4932251" cy="1554480"/>
          </a:xfrm>
          <a:prstGeom prst="roundRect">
            <a:avLst>
              <a:gd name="adj" fmla="val 8000"/>
            </a:avLst>
          </a:prstGeom>
          <a:solidFill>
            <a:srgbClr val="E9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Quadrant Title"/>
          <p:cNvSpPr txBox="1">
            <a:spLocks noGrp="1"/>
          </p:cNvSpPr>
          <p:nvPr>
            <p:ph type="body" idx="22"/>
          </p:nvPr>
        </p:nvSpPr>
        <p:spPr>
          <a:xfrm>
            <a:off x="6565612" y="1920240"/>
            <a:ext cx="448790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3" name="Quadrant Items"/>
          <p:cNvSpPr txBox="1">
            <a:spLocks noGrp="1"/>
          </p:cNvSpPr>
          <p:nvPr>
            <p:ph type="body" idx="23"/>
          </p:nvPr>
        </p:nvSpPr>
        <p:spPr>
          <a:xfrm>
            <a:off x="6565612" y="2286000"/>
            <a:ext cx="448790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840" y="3611880"/>
            <a:ext cx="4932251" cy="1554480"/>
          </a:xfrm>
          <a:prstGeom prst="roundRect">
            <a:avLst>
              <a:gd name="adj" fmla="val 8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Quadrant Title"/>
          <p:cNvSpPr txBox="1">
            <a:spLocks noGrp="1"/>
          </p:cNvSpPr>
          <p:nvPr>
            <p:ph type="body" idx="24"/>
          </p:nvPr>
        </p:nvSpPr>
        <p:spPr>
          <a:xfrm>
            <a:off x="1189013" y="3749040"/>
            <a:ext cx="448790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6" name="Quadrant Items"/>
          <p:cNvSpPr txBox="1">
            <a:spLocks noGrp="1"/>
          </p:cNvSpPr>
          <p:nvPr>
            <p:ph type="body" idx="25"/>
          </p:nvPr>
        </p:nvSpPr>
        <p:spPr>
          <a:xfrm>
            <a:off x="1189013" y="4114800"/>
            <a:ext cx="448790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3438" y="3611880"/>
            <a:ext cx="4932251" cy="1554480"/>
          </a:xfrm>
          <a:prstGeom prst="roundRect">
            <a:avLst>
              <a:gd name="adj" fmla="val 8000"/>
            </a:avLst>
          </a:prstGeom>
          <a:solidFill>
            <a:srgbClr val="FD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Quadrant Title"/>
          <p:cNvSpPr txBox="1">
            <a:spLocks noGrp="1"/>
          </p:cNvSpPr>
          <p:nvPr>
            <p:ph type="body" idx="26"/>
          </p:nvPr>
        </p:nvSpPr>
        <p:spPr>
          <a:xfrm>
            <a:off x="6565612" y="3749040"/>
            <a:ext cx="4487904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600" b="1" i="0">
                <a:solidFill>
                  <a:srgbClr val="243C7A"/>
                </a:solidFill>
                <a:latin typeface="Lato"/>
              </a:defRPr>
            </a:lvl1pPr>
          </a:lstStyle>
          <a:p>
            <a:pPr lvl="0" algn="l"/>
            <a:r>
              <a:rPr lang="en-US" sz="1600" b="1" i="0">
                <a:solidFill>
                  <a:srgbClr val="243C7A"/>
                </a:solidFill>
                <a:latin typeface="Lato"/>
              </a:rPr>
              <a:t>Click to edit Master text styles</a:t>
            </a:r>
          </a:p>
        </p:txBody>
      </p:sp>
      <p:sp>
        <p:nvSpPr>
          <p:cNvPr id="19" name="Quadrant Items"/>
          <p:cNvSpPr txBox="1">
            <a:spLocks noGrp="1"/>
          </p:cNvSpPr>
          <p:nvPr>
            <p:ph type="body" idx="27"/>
          </p:nvPr>
        </p:nvSpPr>
        <p:spPr>
          <a:xfrm>
            <a:off x="6565612" y="4114800"/>
            <a:ext cx="448790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sz="1250" b="0" i="0">
                <a:solidFill>
                  <a:srgbClr val="184B9A"/>
                </a:solidFill>
                <a:latin typeface="Lato"/>
              </a:defRPr>
            </a:lvl1pPr>
          </a:lstStyle>
          <a:p>
            <a:pPr lvl="0" algn="l">
              <a:lnSpc>
                <a:spcPct val="110000"/>
              </a:lnSpc>
            </a:pPr>
            <a:r>
              <a:rPr lang="en-US" sz="1250" b="0" i="0">
                <a:solidFill>
                  <a:srgbClr val="475054"/>
                </a:solidFill>
                <a:latin typeface="Lato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4" Type="http://schemas.openxmlformats.org/officeDocument/2006/relationships/slideLayout" Target="../slideLayouts/slideLayout14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51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12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994ED4-F3F8-EEA1-6C64-C4CB67F9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B5088-0F6F-DE64-FE00-421D04984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800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38667" y="6510000"/>
            <a:ext cx="5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fld id="{B1F3E1CD-0001-4C0D-9C7B-000000000800}" type="slidenum">
              <a:rPr lang="en-ZA" smtClean="0"/>
              <a:t>‹#›</a:t>
            </a:fld>
            <a:endParaRPr lang="en-ZA"/>
          </a:p>
        </p:txBody>
      </p:sp>
      <p:sp>
        <p:nvSpPr>
          <p:cNvPr id="80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00000" y="6510000"/>
            <a:ext cx="5000000" cy="24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buNone/>
              <a:defRPr sz="900">
                <a:solidFill>
                  <a:schemeClr val="tx2"/>
                </a:solidFill>
                <a:latin typeface="Lato" pitchFamily="34" charset="0"/>
              </a:defRPr>
            </a:lvl1pPr>
          </a:lstStyle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465062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56" r:id="rId2"/>
    <p:sldLayoutId id="2147483759" r:id="rId5"/>
    <p:sldLayoutId id="2147483661" r:id="rId6"/>
    <p:sldLayoutId id="2147483650" r:id="rId7"/>
    <p:sldLayoutId id="2147483652" r:id="rId10"/>
    <p:sldLayoutId id="2147483653" r:id="rId11"/>
    <p:sldLayoutId id="2147483654" r:id="rId12"/>
    <p:sldLayoutId id="2147483655" r:id="rId13"/>
    <p:sldLayoutId id="2147483674" r:id="rId14"/>
    <p:sldLayoutId id="2147483708" r:id="rId15"/>
    <p:sldLayoutId id="2147483678" r:id="rId18"/>
    <p:sldLayoutId id="2147483716" r:id="rId20"/>
    <p:sldLayoutId id="2147483732" r:id="rId23"/>
    <p:sldLayoutId id="2147483710" r:id="rId24"/>
    <p:sldLayoutId id="2147483713" r:id="rId27"/>
    <p:sldLayoutId id="2147483755" r:id="rId28"/>
    <p:sldLayoutId id="2147483737" r:id="rId29"/>
    <p:sldLayoutId id="2147483739" r:id="rId31"/>
    <p:sldLayoutId id="2147483740" r:id="rId32"/>
    <p:sldLayoutId id="2147483752" r:id="rId34"/>
    <p:sldLayoutId id="2147483754" r:id="rId36"/>
    <p:sldLayoutId id="2147483746" r:id="rId37"/>
    <p:sldLayoutId id="2147483718" r:id="rId38"/>
    <p:sldLayoutId id="2147483760" r:id="rId39"/>
    <p:sldLayoutId id="2147483761" r:id="rId40"/>
    <p:sldLayoutId id="2147483762" r:id="rId41"/>
    <p:sldLayoutId id="2147483763" r:id="rId42"/>
    <p:sldLayoutId id="2147483764" r:id="rId43"/>
    <p:sldLayoutId id="2147483765" r:id="rId44"/>
    <p:sldLayoutId id="2147483766" r:id="rId45"/>
    <p:sldLayoutId id="2147483767" r:id="rId46"/>
    <p:sldLayoutId id="2147483768" r:id="rId47"/>
    <p:sldLayoutId id="2147483769" r:id="rId48"/>
    <p:sldLayoutId id="2147483770" r:id="rId49"/>
    <p:sldLayoutId id="2147483771" r:id="rId50"/>
    <p:sldLayoutId id="2147483772" r:id="rId51"/>
    <p:sldLayoutId id="2147483773" r:id="rId52"/>
    <p:sldLayoutId id="2147483774" r:id="rId53"/>
    <p:sldLayoutId id="2147483775" r:id="rId54"/>
    <p:sldLayoutId id="2147483776" r:id="rId55"/>
    <p:sldLayoutId id="2147483777" r:id="rId56"/>
    <p:sldLayoutId id="2147483778" r:id="rId57"/>
    <p:sldLayoutId id="2147483779" r:id="rId58"/>
    <p:sldLayoutId id="2147483780" r:id="rId5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5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3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3988" y="1941808"/>
            <a:ext cx="4923673" cy="1805782"/>
          </a:xfrm>
        </p:spPr>
        <p:txBody>
          <a:bodyPr>
            <a:normAutofit/>
          </a:bodyPr>
          <a:lstStyle/>
          <a:p>
            <a:r>
              <a:rPr lang="en-ZA" sz="5400" dirty="0"/>
              <a:t>Presentation </a:t>
            </a:r>
            <a:r>
              <a:rPr sz="5400" dirty="0"/>
              <a:t>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383988" y="3683350"/>
            <a:ext cx="4499927" cy="900000"/>
          </a:xfrm>
        </p:spPr>
        <p:txBody>
          <a:bodyPr>
            <a:normAutofit/>
          </a:bodyPr>
          <a:lstStyle/>
          <a:p>
            <a:r>
              <a:rPr lang="en-GB" sz="2400">
                <a:solidFill>
                  <a:schemeClr val="accent4"/>
                </a:solidFill>
              </a:rPr>
              <a:t>One-line subtitle for the engagement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xfrm>
            <a:off x="494820" y="371113"/>
            <a:ext cx="5200000" cy="320000"/>
          </a:xfrm>
        </p:spPr>
        <p:txBody>
          <a:bodyPr>
            <a:normAutofit/>
          </a:bodyPr>
          <a:lstStyle/>
          <a:p>
            <a:r>
              <a:rPr lang="en-US" sz="1400">
                <a:solidFill>
                  <a:schemeClr val="accent4"/>
                </a:solidFill>
              </a:rPr>
              <a:t>PREPARED FOR CLIENT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>
          <a:xfrm>
            <a:off x="494820" y="4639305"/>
            <a:ext cx="5100000" cy="280000"/>
          </a:xfrm>
        </p:spPr>
        <p:txBody>
          <a:bodyPr>
            <a:normAutofit/>
          </a:bodyPr>
          <a:lstStyle/>
          <a:p>
            <a:r>
              <a:rPr sz="1400" dirty="0">
                <a:solidFill>
                  <a:schemeClr val="bg1"/>
                </a:solidFill>
              </a:rPr>
              <a:t>A one-sentence abstract of what this deck covers.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>
          <a:xfrm>
            <a:off x="483988" y="6330000"/>
            <a:ext cx="5600000" cy="280000"/>
          </a:xfrm>
        </p:spPr>
        <p:txBody>
          <a:bodyPr>
            <a:normAutofit/>
          </a:bodyPr>
          <a:lstStyle/>
          <a:p>
            <a:r>
              <a:rPr sz="1400" i="1" dirty="0">
                <a:solidFill>
                  <a:schemeClr val="bg1"/>
                </a:solidFill>
              </a:rPr>
              <a:t>Prepared by Mint Group · Month 2026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>
            <a:normAutofit/>
          </a:bodyPr>
          <a:lstStyle/>
          <a:p>
            <a:r>
              <a:t>Where we 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Current state and context.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>
            <a:normAutofit/>
          </a:bodyPr>
          <a:lstStyle/>
          <a:p>
            <a:r>
              <a:t>What the data says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Key findings and insights.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r>
              <a:t>Recommendation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The approach we propose.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/>
          </p:nvPr>
        </p:nvSpPr>
        <p:spPr/>
        <p:txBody>
          <a:bodyPr>
            <a:normAutofit/>
          </a:bodyPr>
          <a:lstStyle/>
          <a:p>
            <a:r>
              <a:t>The solution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How it works and what it includes.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/>
          </p:nvPr>
        </p:nvSpPr>
        <p:spPr/>
        <p:txBody>
          <a:bodyPr>
            <a:normAutofit/>
          </a:bodyPr>
          <a:lstStyle/>
          <a:p>
            <a:r>
              <a:t>Commercials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t>Investment, phasing and milestones.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/>
          </p:nvPr>
        </p:nvSpPr>
        <p:spPr/>
        <p:txBody>
          <a:bodyPr>
            <a:normAutofit/>
          </a:bodyPr>
          <a:lstStyle/>
          <a:p>
            <a:r>
              <a:t>Next steps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Decisions and actions from today.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Section title goes here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dirty="0"/>
              <a:t>Lead every slide with its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38200" y="1900238"/>
            <a:ext cx="10515601" cy="4705350"/>
          </a:xfrm>
        </p:spPr>
        <p:txBody>
          <a:bodyPr>
            <a:normAutofit/>
          </a:bodyPr>
          <a:lstStyle/>
          <a:p>
            <a:r>
              <a:rPr lang="en-GB" sz="2400" dirty="0">
                <a:solidFill>
                  <a:srgbClr val="184B9A"/>
                </a:solidFill>
              </a:rPr>
              <a:t>Lead with the message of the slide in one sentence.</a:t>
            </a:r>
          </a:p>
          <a:p>
            <a:r>
              <a:rPr lang="en-GB" sz="2400" dirty="0">
                <a:solidFill>
                  <a:srgbClr val="184B9A"/>
                </a:solidFill>
              </a:rPr>
              <a:t>Support it with evidence — data, examples, proof points.</a:t>
            </a:r>
          </a:p>
          <a:p>
            <a:r>
              <a:rPr lang="en-GB" sz="2400" dirty="0">
                <a:solidFill>
                  <a:srgbClr val="184B9A"/>
                </a:solidFill>
              </a:rPr>
              <a:t>Keep bullets to one line each where possible.</a:t>
            </a:r>
          </a:p>
          <a:p>
            <a:r>
              <a:rPr lang="en-GB" sz="2400" dirty="0">
                <a:solidFill>
                  <a:srgbClr val="184B9A"/>
                </a:solidFill>
              </a:rPr>
              <a:t>Three to five bullets per slide is the sweet spot.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Proven, certified, trusted — 26 years with Microsoft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dirty="0"/>
              <a:t>WHY MINT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Proven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26+ years of Microsoft delivery across three continents.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Certified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Six Microsoft Solutions Partner designations and Inner Circle membership.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Trusted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B-BBEE Level 1 Empowering Supplier, ISO/IEC 27001:2022.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0"/>
          </p:nvPr>
        </p:nvSpPr>
        <p:spPr>
          <a:xfrm>
            <a:off x="566928" y="4754880"/>
            <a:ext cx="10424345" cy="731520"/>
          </a:xfrm>
        </p:spPr>
        <p:txBody>
          <a:bodyPr/>
          <a:lstStyle/>
          <a:p>
            <a:r>
              <a:rPr dirty="0"/>
              <a:t>Callout: the single most important takeaway of this slide goes here.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Advise, build, run, optimise — one engagement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OUR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Advise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•  Assessments</a:t>
            </a:r>
          </a:p>
          <a:p>
            <a:r>
              <a:t>•  Roadmaps</a:t>
            </a:r>
          </a:p>
          <a:p>
            <a:r>
              <a:t>•  Architecture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Build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•  Cloud platforms</a:t>
            </a:r>
          </a:p>
          <a:p>
            <a:r>
              <a:t>•  Data &amp; AI</a:t>
            </a:r>
          </a:p>
          <a:p>
            <a:r>
              <a:t>•  Business applications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Run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•  Managed services</a:t>
            </a:r>
          </a:p>
          <a:p>
            <a:r>
              <a:t>•  Security operations</a:t>
            </a:r>
          </a:p>
          <a:p>
            <a:r>
              <a:t>•  Support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Optimise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•  FinOps</a:t>
            </a:r>
          </a:p>
          <a:p>
            <a:r>
              <a:t>•  Adoption</a:t>
            </a:r>
          </a:p>
          <a:p>
            <a:r>
              <a:t>•  Continuous improvement</a:t>
            </a:r>
          </a:p>
        </p:txBody>
      </p:sp>
      <p:sp>
        <p:nvSpPr>
          <p:cNvPr id="950" name="Callout 40"/>
          <p:cNvSpPr>
            <a:spLocks noGrp="1"/>
          </p:cNvSpPr>
          <p:nvPr>
            <p:ph type="body" idx="40"/>
          </p:nvPr>
        </p:nvSpPr>
        <p:spPr>
          <a:xfrm>
            <a:off x="566928" y="4754880"/>
            <a:ext cx="10424345" cy="731520"/>
          </a:xfrm>
        </p:spPr>
        <p:txBody>
          <a:bodyPr/>
          <a:lstStyle/>
          <a:p>
            <a:r>
              <a:rPr lang="en-ZA" dirty="0"/>
              <a:t>Callout: one engagement can span all four pillars — advise, build, run, optimise.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gates take you from hello to steady state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HOW WE ENGAGE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1 · Discover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Understand the estate, goals and constraints.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2 · Design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Shape the solution and the business case.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3 · Deliver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Build and transition in controlled phases.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4 · Drive value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Operate, measure and continuously improve.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rPr dirty="0"/>
              <a:t>Each phase has a defined gate, owner and evidence of value.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Every metric is tracked against a signed 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NUMBERS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t>Callout: highlight what the data means, not just what it says.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"/>
            <p:extLst>
              <p:ext uri="{D42A27DB-BD31-4B8C-83A1-F6EECF244321}">
                <p14:modId xmlns:p14="http://schemas.microsoft.com/office/powerpoint/2010/main" val="313010639"/>
              </p:ext>
            </p:extLst>
          </p:nvPr>
        </p:nvGraphicFramePr>
        <p:xfrm>
          <a:off x="403860" y="1645920"/>
          <a:ext cx="113842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Lato"/>
                        </a:rPr>
                        <a:t>Metric</a:t>
                      </a:r>
                    </a:p>
                  </a:txBody>
                  <a:tcPr>
                    <a:solidFill>
                      <a:srgbClr val="243C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Lato"/>
                        </a:rPr>
                        <a:t>Baseline</a:t>
                      </a:r>
                    </a:p>
                  </a:txBody>
                  <a:tcPr>
                    <a:solidFill>
                      <a:srgbClr val="243C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Lato"/>
                        </a:rPr>
                        <a:t>Target</a:t>
                      </a:r>
                    </a:p>
                  </a:txBody>
                  <a:tcPr>
                    <a:solidFill>
                      <a:srgbClr val="243C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Lato"/>
                        </a:rPr>
                        <a:t>Status</a:t>
                      </a:r>
                    </a:p>
                  </a:txBody>
                  <a:tcPr>
                    <a:solidFill>
                      <a:srgbClr val="243C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Adoption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On track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Total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R1.2m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184B9A"/>
                          </a:solidFill>
                          <a:latin typeface="Lato"/>
                        </a:rPr>
                        <a:t>R0.9m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Ahead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Risk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4B9A"/>
                          </a:solidFill>
                          <a:latin typeface="Lato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184B9A"/>
                          </a:solidFill>
                          <a:latin typeface="Lato"/>
                        </a:rPr>
                        <a:t>In progress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8005" y="841248"/>
            <a:ext cx="7094779" cy="548640"/>
          </a:xfrm>
        </p:spPr>
        <p:txBody>
          <a:bodyPr/>
          <a:lstStyle/>
          <a:p>
            <a:r>
              <a:rPr dirty="0"/>
              <a:t>One strong image carries the message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7094779" cy="274320"/>
          </a:xfrm>
        </p:spPr>
        <p:txBody>
          <a:bodyPr/>
          <a:lstStyle/>
          <a:p>
            <a:r>
              <a:rPr dirty="0"/>
              <a:t>THE STORY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>
          <a:xfrm>
            <a:off x="718005" y="1400000"/>
            <a:ext cx="6414457" cy="4700000"/>
          </a:xfrm>
        </p:spPr>
        <p:txBody>
          <a:bodyPr/>
          <a:lstStyle/>
          <a:p>
            <a:r>
              <a:rPr lang="en-GB">
                <a:solidFill>
                  <a:schemeClr val="tx1"/>
                </a:solidFill>
              </a:rPr>
              <a:t>Use this layout when one strong image carries the message.</a:t>
            </a:r>
          </a:p>
          <a:p>
            <a:r>
              <a:rPr lang="en-GB">
                <a:solidFill>
                  <a:schemeClr val="tx1"/>
                </a:solidFill>
              </a:rPr>
              <a:t>Keep the text to the point — the picture does the talking.</a:t>
            </a:r>
          </a:p>
          <a:p>
            <a:r>
              <a:rPr lang="en-GB">
                <a:solidFill>
                  <a:schemeClr val="tx1"/>
                </a:solidFill>
              </a:rPr>
              <a:t>Swap the image via the picture placeholder; it crops to shape automatically.</a:t>
            </a:r>
          </a:p>
        </p:txBody>
      </p:sp>
      <p:pic>
        <p:nvPicPr>
          <p:cNvPr id="5" name="Picture Placeholder 4" descr="image.jpeg"/>
          <p:cNvPicPr>
            <a:picLocks noGrp="1" noChangeAspect="1"/>
          </p:cNvPicPr>
          <p:nvPr>
            <p:ph type="pic" idx="20"/>
          </p:nvPr>
        </p:nvPicPr>
        <p:blipFill>
          <a:blip r:embed="rId2"/>
          <a:srcRect l="18912" r="18912"/>
          <a:stretch>
            <a:fillRect/>
          </a:stretch>
        </p:blipFill>
        <p:spPr>
          <a:xfrm>
            <a:off x="7358983" y="965103"/>
            <a:ext cx="4256867" cy="4700000"/>
          </a:xfr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3180" y="841248"/>
            <a:ext cx="11019805" cy="548640"/>
          </a:xfrm>
        </p:spPr>
        <p:txBody>
          <a:bodyPr/>
          <a:lstStyle/>
          <a:p>
            <a:r>
              <a:rPr dirty="0"/>
              <a:t>One committed price, phased over the term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>
          <a:xfrm>
            <a:off x="733180" y="585216"/>
            <a:ext cx="8886939" cy="274320"/>
          </a:xfrm>
        </p:spPr>
        <p:txBody>
          <a:bodyPr/>
          <a:lstStyle/>
          <a:p>
            <a:r>
              <a:rPr dirty="0"/>
              <a:t>INVESTMENT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>
          <a:xfrm>
            <a:off x="733180" y="1417320"/>
            <a:ext cx="5332163" cy="274320"/>
          </a:xfrm>
        </p:spPr>
        <p:txBody>
          <a:bodyPr/>
          <a:lstStyle/>
          <a:p>
            <a:r>
              <a:rPr dirty="0"/>
              <a:t>Included in the engagement: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>
          <a:xfrm>
            <a:off x="733180" y="1783080"/>
            <a:ext cx="3554775" cy="3291840"/>
          </a:xfrm>
        </p:spPr>
        <p:txBody>
          <a:bodyPr/>
          <a:lstStyle/>
          <a:p>
            <a:r>
              <a:rPr sz="1400" dirty="0"/>
              <a:t>•  Discovery and assessment</a:t>
            </a:r>
          </a:p>
          <a:p>
            <a:r>
              <a:rPr sz="1400" dirty="0"/>
              <a:t>•  Solution design</a:t>
            </a:r>
          </a:p>
          <a:p>
            <a:r>
              <a:rPr sz="1400" dirty="0"/>
              <a:t>•  Implementation</a:t>
            </a:r>
          </a:p>
          <a:p>
            <a:r>
              <a:rPr sz="1400" dirty="0"/>
              <a:t>•  Testing and transition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>
            <a:normAutofit/>
          </a:bodyPr>
          <a:lstStyle/>
          <a:p>
            <a:r>
              <a:rPr sz="1400"/>
              <a:t>•  Training and adoption</a:t>
            </a:r>
          </a:p>
          <a:p>
            <a:r>
              <a:rPr sz="1400"/>
              <a:t>•  Hypercare period</a:t>
            </a:r>
          </a:p>
          <a:p>
            <a:r>
              <a:rPr sz="1400"/>
              <a:t>•  Managed service option</a:t>
            </a:r>
          </a:p>
          <a:p>
            <a:r>
              <a:rPr sz="1400"/>
              <a:t>•  Quarterly reviews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YOUR INVESTMENT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R 0 000 000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phased over the term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12-month engagement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Invoiced monthly in arrears.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1"/>
          </p:nvPr>
        </p:nvSpPr>
        <p:spPr>
          <a:xfrm>
            <a:off x="733180" y="5303520"/>
            <a:ext cx="10664327" cy="365760"/>
          </a:xfrm>
        </p:spPr>
        <p:txBody>
          <a:bodyPr/>
          <a:lstStyle/>
          <a:p>
            <a:r>
              <a:rPr dirty="0"/>
              <a:t>Amounts exclude VAT. Final pricing confirmed on order.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3"/>
          </p:nvPr>
        </p:nvSpPr>
        <p:spPr>
          <a:xfrm>
            <a:off x="4270938" y="3543667"/>
            <a:ext cx="6529312" cy="1384995"/>
          </a:xfrm>
        </p:spPr>
        <p:txBody>
          <a:bodyPr/>
          <a:lstStyle/>
          <a:p>
            <a:r>
              <a:t>The situation, the solution and the value — in three sentences.</a:t>
            </a:r>
          </a:p>
          <a:p>
            <a:r>
              <a:t>The decision we are asking for today.</a:t>
            </a:r>
          </a:p>
          <a:p>
            <a:r>
              <a:t>What happens immediately after a yes.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70938" y="1581527"/>
            <a:ext cx="7040880" cy="1188720"/>
          </a:xfrm>
        </p:spPr>
        <p:txBody>
          <a:bodyPr>
            <a:normAutofit/>
          </a:bodyPr>
          <a:lstStyle/>
          <a:p>
            <a:r>
              <a:rPr dirty="0"/>
              <a:t>A yes today unlocks the outcome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270938" y="2872822"/>
            <a:ext cx="7037427" cy="461665"/>
          </a:xfrm>
        </p:spPr>
        <p:txBody>
          <a:bodyPr/>
          <a:lstStyle/>
          <a:p>
            <a:r>
              <a:t>What we covered and why it matters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>
          <a:xfrm>
            <a:off x="6773730" y="5386107"/>
            <a:ext cx="7037427" cy="461665"/>
          </a:xfrm>
        </p:spPr>
        <p:txBody>
          <a:bodyPr/>
          <a:lstStyle/>
          <a:p>
            <a:r>
              <a:t>The ask: approve Phase 1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737360"/>
            <a:ext cx="10881360" cy="731520"/>
          </a:xfrm>
        </p:spPr>
        <p:txBody>
          <a:bodyPr/>
          <a:lstStyle/>
          <a:p>
            <a:r>
              <a:rPr dirty="0"/>
              <a:t>From today to kickoff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>
          <a:xfrm>
            <a:off x="530352" y="1371600"/>
            <a:ext cx="7315200" cy="320040"/>
          </a:xfrm>
        </p:spPr>
        <p:txBody>
          <a:bodyPr/>
          <a:lstStyle/>
          <a:p>
            <a:r>
              <a:rPr dirty="0">
                <a:solidFill>
                  <a:schemeClr val="accent4"/>
                </a:solidFill>
              </a:rP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>
          <a:xfrm>
            <a:off x="530352" y="2743200"/>
            <a:ext cx="10515600" cy="2377440"/>
          </a:xfrm>
        </p:spPr>
        <p:txBody>
          <a:bodyPr/>
          <a:lstStyle/>
          <a:p>
            <a:r>
              <a:rPr dirty="0"/>
              <a:t>1.   Confirm the decision and owners.</a:t>
            </a:r>
          </a:p>
          <a:p>
            <a:r>
              <a:rPr dirty="0"/>
              <a:t>2.   Sign the engagement documents.</a:t>
            </a:r>
          </a:p>
          <a:p>
            <a:r>
              <a:rPr dirty="0"/>
              <a:t>3.   Schedule kickoff within two weeks.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>
          <a:xfrm>
            <a:off x="530352" y="5532120"/>
            <a:ext cx="8229600" cy="274320"/>
          </a:xfrm>
        </p:spPr>
        <p:txBody>
          <a:bodyPr/>
          <a:lstStyle/>
          <a:p>
            <a:r>
              <a:rPr dirty="0">
                <a:solidFill>
                  <a:schemeClr val="accent4"/>
                </a:solidFill>
              </a:rPr>
              <a:t>Mint Group · Create Tomorrow · 2026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</p:spPr>
        <p:txBody>
          <a:bodyPr/>
          <a:lstStyle/>
          <a:p>
            <a:r>
              <a:rPr dirty="0"/>
              <a:t>THE DECISION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</p:spPr>
        <p:txBody>
          <a:bodyPr/>
          <a:lstStyle/>
          <a:p>
            <a:r>
              <a:rPr dirty="0"/>
              <a:t>Option B reaches the outcome a year sooner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dirty="0"/>
              <a:t>Option A — run it in-house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•  Full control of the stack</a:t>
            </a:r>
          </a:p>
          <a:p>
            <a:r>
              <a:t>•  Hire and retain a 24/7 team</a:t>
            </a:r>
          </a:p>
          <a:p>
            <a:r>
              <a:t>•  Slow to reach maturity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Option B — Mint managed service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•  Operational from day one</a:t>
            </a:r>
          </a:p>
          <a:p>
            <a:r>
              <a:t>•  SLA-backed, evidence-led</a:t>
            </a:r>
          </a:p>
          <a:p>
            <a:r>
              <a:t>•  Predictable annuity pricing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0"/>
          </p:nvPr>
        </p:nvSpPr>
        <p:spPr>
          <a:xfrm>
            <a:off x="566928" y="4892040"/>
            <a:ext cx="10442817" cy="685800"/>
          </a:xfrm>
        </p:spPr>
        <p:txBody>
          <a:bodyPr/>
          <a:lstStyle/>
          <a:p>
            <a:r>
              <a:t>Verdict: Option B reaches the outcome 12 months sooner at lower total cost.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>
                <a:solidFill>
                  <a:schemeClr val="accent4"/>
                </a:solidFill>
              </a:rPr>
              <a:t>CREATE TOMORROW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One bold statement that carries the whole slide.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Supporting line or attribution goes here.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dirty="0"/>
              <a:t>THE RESULTS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Four numbers prove the progress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26+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Years of Microsoft delivery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Solutions Partner designations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80%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Secure Score target sustained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R4.7m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Annual saving delivered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rPr dirty="0"/>
              <a:t>Context: what these numbers prove together.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Four gated phases reach steady state in month 12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Phase 1 · Weeks 1–2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rPr dirty="0"/>
              <a:t>•  Scope and access</a:t>
            </a:r>
          </a:p>
          <a:p>
            <a:r>
              <a:rPr dirty="0"/>
              <a:t>•  Baseline every workload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Phase 2 · Weeks 3–8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•  Assess and score</a:t>
            </a:r>
          </a:p>
          <a:p>
            <a:r>
              <a:t>•  Roadmap built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Phase 3 · Weeks 9–12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•  Quick-win waves via CAB</a:t>
            </a:r>
          </a:p>
          <a:p>
            <a:r>
              <a:t>•  Re-score deltas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Phase 4 · Ongoing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•  Quarterly re-score</a:t>
            </a:r>
          </a:p>
          <a:p>
            <a:r>
              <a:t>•  Governed backlog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t>Gates at the end of every phase; plan starts on contract signature.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TREND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 compounds quarter on quarter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0"/>
          </p:nvPr>
        </p:nvGraphicFramePr>
        <p:xfrm>
          <a:off x="566928" y="1417320"/>
          <a:ext cx="7287289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dirty="0"/>
              <a:t>THE TAKEAWAY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GB" b="0">
                <a:solidFill>
                  <a:schemeClr val="tx1"/>
                </a:solidFill>
              </a:rPr>
              <a:t>Adoption is compounding — each quarter beats the last by a wider margin.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t>Source: Microsoft 365 usage analytics, FY26–27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dirty="0"/>
              <a:t>“For the first time, our AI story and our audit story are the same story.”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rPr dirty="0"/>
              <a:t>Naledi Mokoena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Chief Information Security Officer, Karoo Federal Bank (fictional)</a:t>
            </a:r>
          </a:p>
        </p:txBody>
      </p:sp>
      <p:pic>
        <p:nvPicPr>
          <p:cNvPr id="5" name="Picture Placeholder 4" descr="av4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/>
          <a:stretch>
            <a:fillRect/>
          </a:stretch>
        </p:blipFill>
        <p:spPr>
          <a:xfrm>
            <a:off x="8876215" y="3177540"/>
            <a:ext cx="2132865" cy="2194560"/>
          </a:xfrm>
        </p:spPr>
      </p:pic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</p:spPr>
        <p:txBody>
          <a:bodyPr/>
          <a:lstStyle/>
          <a:p>
            <a:r>
              <a:t>IN GOOD COMPANY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18005" y="841248"/>
            <a:ext cx="11019805" cy="548640"/>
          </a:xfrm>
        </p:spPr>
        <p:txBody>
          <a:bodyPr/>
          <a:lstStyle/>
          <a:p>
            <a:r>
              <a:rPr dirty="0"/>
              <a:t>Institutions that run on this method</a:t>
            </a:r>
          </a:p>
        </p:txBody>
      </p:sp>
      <p:pic>
        <p:nvPicPr>
          <p:cNvPr id="4" name="Picture Placeholder 3" descr="logo0.png"/>
          <p:cNvPicPr>
            <a:picLocks noGrp="1" noChangeAspect="1"/>
          </p:cNvPicPr>
          <p:nvPr>
            <p:ph type="pic" idx="20"/>
          </p:nvPr>
        </p:nvPicPr>
        <p:blipFill>
          <a:blip r:embed="rId2"/>
          <a:srcRect t="2665" b="2665"/>
          <a:stretch>
            <a:fillRect/>
          </a:stretch>
        </p:blipFill>
        <p:spPr/>
      </p:pic>
      <p:pic>
        <p:nvPicPr>
          <p:cNvPr id="5" name="Picture Placeholder 4" descr="logo1.png"/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2665" b="2665"/>
          <a:stretch>
            <a:fillRect/>
          </a:stretch>
        </p:blipFill>
        <p:spPr/>
      </p:pic>
      <p:pic>
        <p:nvPicPr>
          <p:cNvPr id="6" name="Picture Placeholder 5" descr="logo2.png"/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2665" b="2665"/>
          <a:stretch>
            <a:fillRect/>
          </a:stretch>
        </p:blipFill>
        <p:spPr/>
      </p:pic>
      <p:pic>
        <p:nvPicPr>
          <p:cNvPr id="7" name="Picture Placeholder 6" descr="logo3.png"/>
          <p:cNvPicPr>
            <a:picLocks noGrp="1" noChangeAspect="1"/>
          </p:cNvPicPr>
          <p:nvPr>
            <p:ph type="pic" idx="23"/>
          </p:nvPr>
        </p:nvPicPr>
        <p:blipFill>
          <a:blip r:embed="rId5"/>
          <a:srcRect t="2665" b="2665"/>
          <a:stretch>
            <a:fillRect/>
          </a:stretch>
        </p:blipFill>
        <p:spPr/>
      </p:pic>
      <p:pic>
        <p:nvPicPr>
          <p:cNvPr id="8" name="Picture Placeholder 7" descr="logo4.png"/>
          <p:cNvPicPr>
            <a:picLocks noGrp="1" noChangeAspect="1"/>
          </p:cNvPicPr>
          <p:nvPr>
            <p:ph type="pic" idx="24"/>
          </p:nvPr>
        </p:nvPicPr>
        <p:blipFill>
          <a:blip r:embed="rId6"/>
          <a:srcRect t="2665" b="2665"/>
          <a:stretch>
            <a:fillRect/>
          </a:stretch>
        </p:blipFill>
        <p:spPr/>
      </p:pic>
      <p:pic>
        <p:nvPicPr>
          <p:cNvPr id="9" name="Picture Placeholder 8" descr="logo5.png"/>
          <p:cNvPicPr>
            <a:picLocks noGrp="1" noChangeAspect="1"/>
          </p:cNvPicPr>
          <p:nvPr>
            <p:ph type="pic" idx="25"/>
          </p:nvPr>
        </p:nvPicPr>
        <p:blipFill>
          <a:blip r:embed="rId7"/>
          <a:srcRect t="2665" b="2665"/>
          <a:stretch>
            <a:fillRect/>
          </a:stretch>
        </p:blipFill>
        <p:spPr/>
      </p:pic>
      <p:pic>
        <p:nvPicPr>
          <p:cNvPr id="10" name="Picture Placeholder 9" descr="logo6.png"/>
          <p:cNvPicPr>
            <a:picLocks noGrp="1" noChangeAspect="1"/>
          </p:cNvPicPr>
          <p:nvPr>
            <p:ph type="pic" idx="26"/>
          </p:nvPr>
        </p:nvPicPr>
        <p:blipFill>
          <a:blip r:embed="rId8"/>
          <a:srcRect t="2665" b="2665"/>
          <a:stretch>
            <a:fillRect/>
          </a:stretch>
        </p:blipFill>
        <p:spPr/>
      </p:pic>
      <p:pic>
        <p:nvPicPr>
          <p:cNvPr id="11" name="Picture Placeholder 10" descr="logo7.png"/>
          <p:cNvPicPr>
            <a:picLocks noGrp="1" noChangeAspect="1"/>
          </p:cNvPicPr>
          <p:nvPr>
            <p:ph type="pic" idx="27"/>
          </p:nvPr>
        </p:nvPicPr>
        <p:blipFill>
          <a:blip r:embed="rId9"/>
          <a:srcRect t="2665" b="2665"/>
          <a:stretch>
            <a:fillRect/>
          </a:stretch>
        </p:blipFill>
        <p:spPr/>
      </p:pic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rPr dirty="0"/>
              <a:t>Fictional marks for review — replace with client and partner logos.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THESIS — STATED UP FRONT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Ungoverned AI is now the biggest audit risk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You cannot govern AI you cannot see — and today 31% of sensitive data is invisible to your controls.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Governance is not a project you finish — it grows with adoption, and growth must be directed.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So the real question is not "are we using AI?" — it is "who is managing the evolution?"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Most banks manage an estate — reactively. This programme manages its evolution.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Everything after this slide exists to prove that sentence.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PRIORITISATION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wins in quarter one fund the big bets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rPr dirty="0"/>
              <a:t>IMPACT 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rPr dirty="0"/>
              <a:t>EFFORT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Quick wins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•  Impersonation protection &amp; CA baseline</a:t>
            </a:r>
          </a:p>
          <a:p>
            <a:r>
              <a:t>•  DLP starter policies on labelled stores</a:t>
            </a:r>
          </a:p>
          <a:p>
            <a:r>
              <a:t>•  Copilot guardrail configuration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Big bets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•  Purview rollout across all workloads</a:t>
            </a:r>
          </a:p>
          <a:p>
            <a:r>
              <a:t>•  AI incident detection in Sentinel</a:t>
            </a:r>
          </a:p>
          <a:p>
            <a:r>
              <a:t>•  Data classification at scale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Fill-ins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•  Champions network refresh</a:t>
            </a:r>
          </a:p>
          <a:p>
            <a:r>
              <a:t>•  Adoption analytics dashboards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Question marks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rPr dirty="0"/>
              <a:t>•  Agent marketplace governance</a:t>
            </a:r>
          </a:p>
          <a:p>
            <a:r>
              <a:rPr dirty="0"/>
              <a:t>•  Third-party AI tool amnesty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dirty="0"/>
              <a:t>GOVERNANCE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committee, three workstreams, 48-hour escalation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Joint Steering Committee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Mint Engagement Lead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•  Security architects</a:t>
            </a:r>
          </a:p>
          <a:p>
            <a:r>
              <a:t>•  SOC analysts (24/7)</a:t>
            </a:r>
          </a:p>
          <a:p>
            <a:r>
              <a:t>•  Compliance specialist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Your CISO Office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•  Identity &amp; M365 leads</a:t>
            </a:r>
          </a:p>
          <a:p>
            <a:r>
              <a:t>•  Risk &amp; audit liaison</a:t>
            </a:r>
          </a:p>
          <a:p>
            <a:r>
              <a:t>•  Data governance lead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Combined CoE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•  Adoption &amp; change team</a:t>
            </a:r>
          </a:p>
          <a:p>
            <a:r>
              <a:t>•  Champions network</a:t>
            </a:r>
          </a:p>
          <a:p>
            <a:r>
              <a:t>•  Analytics &amp; reporting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t>Escalation path: workstream lead → engagement lead → steering committee, with a 48-hour SLA at every hop.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</p:spPr>
        <p:txBody>
          <a:bodyPr/>
          <a:lstStyle/>
          <a:p>
            <a:r>
              <a:rPr dirty="0"/>
              <a:t>PROOF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</p:spPr>
        <p:txBody>
          <a:bodyPr/>
          <a:lstStyle/>
          <a:p>
            <a:r>
              <a:t>A frozen pilot became a full rollout in 14 months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>
          <a:xfrm>
            <a:off x="718005" y="1316736"/>
            <a:ext cx="10664327" cy="320040"/>
          </a:xfrm>
        </p:spPr>
        <p:txBody>
          <a:bodyPr/>
          <a:lstStyle/>
          <a:p>
            <a:r>
              <a:t>Insurance group · 6,500 seats · regulated in three jurisdictions (anonymised reference)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A Copilot rollout froze at pilot stage: unlabelled data everywhere, an audit finding on access governance, and a board unwilling to scale without evidence.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Same method, same gates — baseline in month one, quick-win waves through their CAB from month two, quarterly re-scores presented directly to the audit committee.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Secure Score 61%→82% in 11 months, 97% of sensitive data labelled, Copilot scaled to all staff, and the next external audit closed with zero security findings.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0"/>
          </p:nvPr>
        </p:nvSpPr>
        <p:spPr>
          <a:xfrm>
            <a:off x="718005" y="4892040"/>
            <a:ext cx="10843463" cy="685800"/>
          </a:xfrm>
        </p:spPr>
        <p:txBody>
          <a:bodyPr/>
          <a:lstStyle/>
          <a:p>
            <a:r>
              <a:rPr dirty="0"/>
              <a:t>Headline result: from frozen pilot to full rollout in 14 months — with the audit committee as the </a:t>
            </a:r>
            <a:r>
              <a:rPr dirty="0" err="1"/>
              <a:t>programme’s</a:t>
            </a:r>
            <a:r>
              <a:rPr dirty="0"/>
              <a:t> sponsor, not its brake.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>
          <a:xfrm>
            <a:off x="718005" y="585216"/>
            <a:ext cx="8886939" cy="274320"/>
          </a:xfrm>
        </p:spPr>
        <p:txBody>
          <a:bodyPr/>
          <a:lstStyle/>
          <a:p>
            <a:r>
              <a:rPr dirty="0"/>
              <a:t>THE QUESTIONS BOARDS ASK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18005" y="841248"/>
            <a:ext cx="10842066" cy="548640"/>
          </a:xfrm>
        </p:spPr>
        <p:txBody>
          <a:bodyPr/>
          <a:lstStyle/>
          <a:p>
            <a:r>
              <a:rPr dirty="0"/>
              <a:t>The four questions every board asks — answered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>
          <a:xfrm>
            <a:off x="718005" y="1600200"/>
            <a:ext cx="5065555" cy="502920"/>
          </a:xfrm>
        </p:spPr>
        <p:txBody>
          <a:bodyPr/>
          <a:lstStyle/>
          <a:p>
            <a:r>
              <a:rPr dirty="0"/>
              <a:t>Q ·  Does Mint get standing access to our tenant?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>
          <a:xfrm>
            <a:off x="718005" y="2167128"/>
            <a:ext cx="5065555" cy="1234440"/>
          </a:xfrm>
        </p:spPr>
        <p:txBody>
          <a:bodyPr/>
          <a:lstStyle/>
          <a:p>
            <a:r>
              <a:rPr dirty="0"/>
              <a:t>No. All access is read-only, time-boxed through PIM, and approved per session by your team. Hardening changes are executed through your CAB — by your people where you prefer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>
          <a:xfrm>
            <a:off x="6103491" y="1600200"/>
            <a:ext cx="5065555" cy="502920"/>
          </a:xfrm>
        </p:spPr>
        <p:txBody>
          <a:bodyPr>
            <a:normAutofit lnSpcReduction="10000"/>
          </a:bodyPr>
          <a:lstStyle/>
          <a:p>
            <a:r>
              <a:t>Q ·  What happens to the capability when the engagement ends?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>
          <a:xfrm>
            <a:off x="6103491" y="2167128"/>
            <a:ext cx="5065555" cy="1234440"/>
          </a:xfrm>
        </p:spPr>
        <p:txBody>
          <a:bodyPr/>
          <a:lstStyle/>
          <a:p>
            <a:r>
              <a:t>It stays. Phase 4 is a structured handover to your CoE: playbooks, detection rules, dashboards and trained staff. The annuity option keeps our SOC behind yours, but you are never dependent.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>
          <a:xfrm>
            <a:off x="718005" y="3611880"/>
            <a:ext cx="5065555" cy="502920"/>
          </a:xfrm>
        </p:spPr>
        <p:txBody>
          <a:bodyPr/>
          <a:lstStyle/>
          <a:p>
            <a:r>
              <a:t>Q ·  How is this different from a security assessment?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>
          <a:xfrm>
            <a:off x="718005" y="4178808"/>
            <a:ext cx="5065555" cy="1234440"/>
          </a:xfrm>
        </p:spPr>
        <p:txBody>
          <a:bodyPr/>
          <a:lstStyle/>
          <a:p>
            <a:r>
              <a:t>An assessment gives you a snapshot; this is an operating rhythm. Quarterly re-scores, governed remediation waves, and evidence packs — a trend line, not a report on a shelf.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>
          <a:xfrm>
            <a:off x="6103491" y="3611880"/>
            <a:ext cx="5065555" cy="502920"/>
          </a:xfrm>
        </p:spPr>
        <p:txBody>
          <a:bodyPr/>
          <a:lstStyle/>
          <a:p>
            <a:r>
              <a:t>Q ·  Why now, and not after audit season?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>
          <a:xfrm>
            <a:off x="6103491" y="4178808"/>
            <a:ext cx="5065555" cy="1234440"/>
          </a:xfrm>
        </p:spPr>
        <p:txBody>
          <a:bodyPr/>
          <a:lstStyle/>
          <a:p>
            <a:r>
              <a:rPr dirty="0"/>
              <a:t>Because the audit is the deadline, not the starting gun. Starting now means walking into it with two quarters of evidence — starting after means explaining why you waited.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orporate Deck">
  <a:themeElements>
    <a:clrScheme name="Mint Colours">
      <a:dk1>
        <a:srgbClr val="475054"/>
      </a:dk1>
      <a:lt1>
        <a:sysClr val="window" lastClr="FFFFFF"/>
      </a:lt1>
      <a:dk2>
        <a:srgbClr val="626E73"/>
      </a:dk2>
      <a:lt2>
        <a:srgbClr val="CFD8DB"/>
      </a:lt2>
      <a:accent1>
        <a:srgbClr val="243C7A"/>
      </a:accent1>
      <a:accent2>
        <a:srgbClr val="184B9A"/>
      </a:accent2>
      <a:accent3>
        <a:srgbClr val="439E46"/>
      </a:accent3>
      <a:accent4>
        <a:srgbClr val="89C146"/>
      </a:accent4>
      <a:accent5>
        <a:srgbClr val="F15927"/>
      </a:accent5>
      <a:accent6>
        <a:srgbClr val="F48130"/>
      </a:accent6>
      <a:hlink>
        <a:srgbClr val="65A1D7"/>
      </a:hlink>
      <a:folHlink>
        <a:srgbClr val="C3E0A7"/>
      </a:folHlink>
    </a:clrScheme>
    <a:fontScheme name="Mint Font_Lato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2" id="{D48F251A-718D-48A7-AE91-09DEB9CAD94F}" vid="{B106F942-0FAE-4ADF-BF19-E357DC11A9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889958CF074346A27985477CC51872" ma:contentTypeVersion="4" ma:contentTypeDescription="Create a new document." ma:contentTypeScope="" ma:versionID="57892641fbdc032da29375bc784c4f05">
  <xsd:schema xmlns:xsd="http://www.w3.org/2001/XMLSchema" xmlns:xs="http://www.w3.org/2001/XMLSchema" xmlns:p="http://schemas.microsoft.com/office/2006/metadata/properties" xmlns:ns2="9c3b26fa-cc3a-429f-a46a-81d615281f0f" targetNamespace="http://schemas.microsoft.com/office/2006/metadata/properties" ma:root="true" ma:fieldsID="787d6bc71ddc1106aa2c1784c56e4614" ns2:_="">
    <xsd:import namespace="9c3b26fa-cc3a-429f-a46a-81d615281f0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3b26fa-cc3a-429f-a46a-81d615281f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haredContentType xmlns="Microsoft.SharePoint.Taxonomy.ContentTypeSync" SourceId="36cbaa38-dbec-48d2-b0a0-1a8feb56de5f" ContentTypeId="0x0101" PreviousValue="false" LastSyncTimeStamp="2017-01-05T13:16:00.493Z"/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3774DB4-D8D6-4453-A776-0CF714ADBF7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1A006BB-8F47-4240-8544-628CF6010046}"/>
</file>

<file path=customXml/itemProps3.xml><?xml version="1.0" encoding="utf-8"?>
<ds:datastoreItem xmlns:ds="http://schemas.openxmlformats.org/officeDocument/2006/customXml" ds:itemID="{26958046-65EA-48D1-9A3A-5E447D821A09}">
  <ds:schemaRefs>
    <ds:schemaRef ds:uri="Microsoft.SharePoint.Taxonomy.ContentTypeSync"/>
  </ds:schemaRefs>
</ds:datastoreItem>
</file>

<file path=customXml/itemProps4.xml><?xml version="1.0" encoding="utf-8"?>
<ds:datastoreItem xmlns:ds="http://schemas.openxmlformats.org/officeDocument/2006/customXml" ds:itemID="{FD37AED0-A633-486C-8268-0FC8F3DF697C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cec637fe-db01-4956-a356-f510891aaba9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</Words>
  <Application>Microsoft Office PowerPoint</Application>
  <PresentationFormat>Widescreen</PresentationFormat>
  <Paragraphs>226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Lato</vt:lpstr>
      <vt:lpstr>Lato Light</vt:lpstr>
      <vt:lpstr>Corporate Deck</vt:lpstr>
      <vt:lpstr>Presentation Title</vt:lpstr>
      <vt:lpstr>Agenda</vt:lpstr>
      <vt:lpstr>Section title goes here</vt:lpstr>
      <vt:lpstr>Lead every slide with its takeaway</vt:lpstr>
      <vt:lpstr>Proven, certified, trusted — 26 years with Microsoft</vt:lpstr>
      <vt:lpstr>Advise, build, run, optimise — one engagement</vt:lpstr>
      <vt:lpstr>Four gates take you from hello to steady state</vt:lpstr>
      <vt:lpstr>Every metric is tracked against a signed target</vt:lpstr>
      <vt:lpstr>One strong image carries the message</vt:lpstr>
      <vt:lpstr>One committed price, phased over the term</vt:lpstr>
      <vt:lpstr>A yes today unlocks the outcome</vt:lpstr>
      <vt:lpstr>From today to kickoff</vt:lpstr>
      <vt:lpstr>Option B reaches the outcome a year sooner</vt:lpstr>
      <vt:lpstr>One bold statement that carries the whole slide.</vt:lpstr>
      <vt:lpstr>Four numbers prove the progress</vt:lpstr>
      <vt:lpstr>Four gated phases reach steady state in month 12</vt:lpstr>
      <vt:lpstr>Adoption compounds quarter on quarter</vt:lpstr>
      <vt:lpstr>PowerPoint Presentation</vt:lpstr>
      <vt:lpstr>Institutions that run on this method</vt:lpstr>
      <vt:lpstr>Ungoverned AI is now the biggest audit risk</vt:lpstr>
      <vt:lpstr>Quick wins in quarter one fund the big bets</vt:lpstr>
      <vt:lpstr>One committee, three workstreams, 48-hour escalation</vt:lpstr>
      <vt:lpstr>A frozen pilot became a full rollout in 14 months</vt:lpstr>
      <vt:lpstr>The four questions every board asks — answered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Francine du Plooy</dc:creator>
  <cp:lastModifiedBy>Francine du Plooy</cp:lastModifiedBy>
  <cp:revision>1</cp:revision>
  <dcterms:created xsi:type="dcterms:W3CDTF">2026-07-22T08:01:08Z</dcterms:created>
  <dcterms:modified xsi:type="dcterms:W3CDTF">2026-07-22T08:12:31Z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0x01010036889958CF074346A27985477CC51872</vt:lpwstr>
  </property>
</Properties>
</file>