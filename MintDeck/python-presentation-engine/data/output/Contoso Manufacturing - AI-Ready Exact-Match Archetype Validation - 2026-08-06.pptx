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7"/>
  </p:notesMasterIdLst>
  <p:handoutMasterIdLst>
    <p:handoutMasterId r:id="rId28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31C89C-05FF-4A19-A8CB-AC2A5F6B3B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E46"/>
    <a:srgbClr val="184B9A"/>
    <a:srgbClr val="65A1D7"/>
    <a:srgbClr val="020C45"/>
    <a:srgbClr val="0195DF"/>
    <a:srgbClr val="CFD8DB"/>
    <a:srgbClr val="F15022"/>
    <a:srgbClr val="01A3EE"/>
    <a:srgbClr val="FFBB0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01" autoAdjust="0"/>
  </p:normalViewPr>
  <p:slideViewPr>
    <p:cSldViewPr snapToGrid="0">
      <p:cViewPr varScale="1">
        <p:scale>
          <a:sx n="72" d="100"/>
          <a:sy n="72" d="100"/>
        </p:scale>
        <p:origin x="821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4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ivhuwo Neswiswi" userId="3a062bb7-5a9e-4540-8823-7009ab3071f0" providerId="ADAL" clId="{F7AFFAB8-C6E6-480E-A747-C9F5B8DF902C}"/>
    <pc:docChg chg="undo custSel modSld">
      <pc:chgData name="Ndivhuwo Neswiswi" userId="3a062bb7-5a9e-4540-8823-7009ab3071f0" providerId="ADAL" clId="{F7AFFAB8-C6E6-480E-A747-C9F5B8DF902C}" dt="2026-08-06T13:29:12.196" v="10" actId="1076"/>
      <pc:docMkLst>
        <pc:docMk/>
      </pc:docMkLst>
      <pc:sldChg chg="modSp mod">
        <pc:chgData name="Ndivhuwo Neswiswi" userId="3a062bb7-5a9e-4540-8823-7009ab3071f0" providerId="ADAL" clId="{F7AFFAB8-C6E6-480E-A747-C9F5B8DF902C}" dt="2026-08-06T13:28:37.562" v="6" actId="14100"/>
        <pc:sldMkLst>
          <pc:docMk/>
          <pc:sldMk cId="0" sldId="257"/>
        </pc:sldMkLst>
        <pc:spChg chg="mod">
          <ac:chgData name="Ndivhuwo Neswiswi" userId="3a062bb7-5a9e-4540-8823-7009ab3071f0" providerId="ADAL" clId="{F7AFFAB8-C6E6-480E-A747-C9F5B8DF902C}" dt="2026-08-06T13:28:37.562" v="6" actId="14100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Ndivhuwo Neswiswi" userId="3a062bb7-5a9e-4540-8823-7009ab3071f0" providerId="ADAL" clId="{F7AFFAB8-C6E6-480E-A747-C9F5B8DF902C}" dt="2026-08-06T13:29:12.196" v="10" actId="1076"/>
        <pc:sldMkLst>
          <pc:docMk/>
          <pc:sldMk cId="0" sldId="275"/>
        </pc:sldMkLst>
        <pc:spChg chg="mod">
          <ac:chgData name="Ndivhuwo Neswiswi" userId="3a062bb7-5a9e-4540-8823-7009ab3071f0" providerId="ADAL" clId="{F7AFFAB8-C6E6-480E-A747-C9F5B8DF902C}" dt="2026-08-06T13:29:12.196" v="10" actId="1076"/>
          <ac:spMkLst>
            <pc:docMk/>
            <pc:sldMk cId="0" sldId="275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14F0F6-EB92-0161-84AB-0ADF8D912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F39FB-7148-63E0-F18F-7BC5B115A3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F56A-B27E-4DAB-A396-B023A441FB94}" type="datetimeFigureOut">
              <a:rPr lang="en-ZA" smtClean="0"/>
              <a:t>2026/08/06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ED67-959E-9F9F-4F2C-2E56339AC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B0693-7013-29FF-6AB0-57A20418A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EDDE-4701-4CA5-A965-1BAEEB38D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28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1E4FD-EF3C-49AF-886A-62D5286CD0D7}" type="datetimeFigureOut">
              <a:rPr lang="en-ZA" smtClean="0"/>
              <a:t>2026/08/06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CE6D-5C3C-47E1-ADB7-0BCA1B090A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jpeg"/><Relationship Id="rId4" Type="http://schemas.openxmlformats.org/officeDocument/2006/relationships/image" Target="../media/image3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7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8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3"/>
    <p:sldLayoutId id="2147483661" r:id="rId4"/>
    <p:sldLayoutId id="2147483650" r:id="rId5"/>
    <p:sldLayoutId id="2147483652" r:id="rId6"/>
    <p:sldLayoutId id="2147483653" r:id="rId7"/>
    <p:sldLayoutId id="2147483654" r:id="rId8"/>
    <p:sldLayoutId id="2147483655" r:id="rId9"/>
    <p:sldLayoutId id="2147483674" r:id="rId10"/>
    <p:sldLayoutId id="2147483708" r:id="rId11"/>
    <p:sldLayoutId id="2147483678" r:id="rId12"/>
    <p:sldLayoutId id="2147483716" r:id="rId13"/>
    <p:sldLayoutId id="2147483732" r:id="rId14"/>
    <p:sldLayoutId id="2147483710" r:id="rId15"/>
    <p:sldLayoutId id="2147483713" r:id="rId16"/>
    <p:sldLayoutId id="2147483755" r:id="rId17"/>
    <p:sldLayoutId id="2147483737" r:id="rId18"/>
    <p:sldLayoutId id="2147483739" r:id="rId19"/>
    <p:sldLayoutId id="2147483740" r:id="rId20"/>
    <p:sldLayoutId id="2147483752" r:id="rId21"/>
    <p:sldLayoutId id="2147483754" r:id="rId22"/>
    <p:sldLayoutId id="2147483746" r:id="rId23"/>
    <p:sldLayoutId id="2147483718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3" r:id="rId38"/>
    <p:sldLayoutId id="2147483774" r:id="rId39"/>
    <p:sldLayoutId id="2147483775" r:id="rId40"/>
    <p:sldLayoutId id="2147483776" r:id="rId41"/>
    <p:sldLayoutId id="2147483777" r:id="rId42"/>
    <p:sldLayoutId id="2147483778" r:id="rId43"/>
    <p:sldLayoutId id="2147483779" r:id="rId44"/>
    <p:sldLayoutId id="2147483780" r:id="rId4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AI-Ready Adoption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End-to-end validation of exact-match archetype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PREPARED FOR CONTOSO MANUFACTURING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This deck validates layout resolution, placeholder filling, package hygiene and slide generation.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Prepared by Mint Group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2103120"/>
            <a:ext cx="7965062" cy="914400"/>
          </a:xfrm>
        </p:spPr>
        <p:txBody>
          <a:bodyPr>
            <a:normAutofit fontScale="90000"/>
          </a:bodyPr>
          <a:lstStyle/>
          <a:p>
            <a:r>
              <a:rPr dirty="0"/>
              <a:t>Exact-match validation is ready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dirty="0"/>
              <a:t>Baseline and template alignment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Supported layouts are generating with populated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AI-ready work now depends on governed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AI adoption creates value only when governance, enablement and measurement move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THESIS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phased adoption model reduces risk while building momentum.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Teams adopt faster when scenarios are tied to measurable outcomes.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Governance must scale at the same pace as usage.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How can Contoso expand AI usage without increasing operational risk?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A phased model gives teams practical value while keeping control points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barriers slow practical Copilot adoption.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THE STAKES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Awareness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Users are unsure where Copilot helps in daily work.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Consistency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Usage patterns vary across departments and roles.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Data access questions delay broader rollout.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adoption journey needs clear ownership and focus.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OPERATING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 focused pilot creates a controlled environment for validating scenarios, measuring outcomes and refining the enablement model before expansion.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OPTIONS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rollout outperforms informal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Informal adoption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Uneven usage</a:t>
            </a:r>
          </a:p>
          <a:p>
            <a:r>
              <a:t>Limited measurement</a:t>
            </a:r>
          </a:p>
          <a:p>
            <a:r>
              <a:t>Reactive governance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Governed rollout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Priority scenarios</a:t>
            </a:r>
          </a:p>
          <a:p>
            <a:r>
              <a:t>Usage evidence</a:t>
            </a:r>
          </a:p>
          <a:p>
            <a:r>
              <a:t>Controlled expansion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Governed rollout gives leadership better visibility and lower execution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FAQ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pilot answers the questions leaders ask first.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Where should we start?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Start with high-frequency knowledge work and repeatable scenarios.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How do we measure value?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Track adoption, time saved and quality improvements by scenario.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How do we reduce risk?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Align enablement with data access and governance controls.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When do we expand?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Expand after the pilot shows repeatable value and clear operating ownership.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workstreams move users from awareness to daily usage.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WORKSTREAMS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Prepare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Confirm governance and success measures.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Prioritise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Select business scenarios and pilot teams.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Enable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Train users and champions with role-based guidance.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Measure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Review outcomes and tune the expansion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pilot tracks adoption, value and governance evidence.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MEASURES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The pilot scorecard keeps the work focused on adoption, impact and risk controls.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The same scorecard can be reused when the programme expands.</a:t>
            </a:r>
          </a:p>
        </p:txBody>
      </p:sp>
      <p:sp>
        <p:nvSpPr>
          <p:cNvPr id="6" name="Table Placeholder 5"/>
          <p:cNvSpPr>
            <a:spLocks noGrp="1"/>
          </p:cNvSpPr>
          <p:nvPr>
            <p:ph type="tbl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TREND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maturity should increase across the pilot cycle.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Adoption maturity should grow as teams move from awareness into repeated scenario use.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Validation sample data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KPI SNAPSHOT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indicators show whether adoption is moving.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70%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Pilot active usage target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2h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Weekly time-saving target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Priority scenarios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0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Critical governance exceptions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These indicators are sample validation values for placeholder population.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PRIORITISATION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scenarios balance impact and readiness.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Readiness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Quick wins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Meeting summaries</a:t>
            </a:r>
          </a:p>
          <a:p>
            <a:r>
              <a:t>Document drafting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Big bets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Knowledge discovery</a:t>
            </a:r>
          </a:p>
          <a:p>
            <a:r>
              <a:t>Process automation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Fill-ins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Prompt coaching</a:t>
            </a:r>
          </a:p>
          <a:p>
            <a:r>
              <a:t>Champion support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Question marks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Complex agent workflows</a:t>
            </a:r>
          </a:p>
          <a:p>
            <a:r>
              <a:t>External data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small delivery group keeps the pilot moving.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2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Pilot Owner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Business sponsor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2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Adoption Lead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Enablement and champions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Governance Lead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Access and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ownership stays visible throughout the pilot.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Steering owner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Business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Pilot users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Technology lead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Champions network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Governance lead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Support team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Escalation routes should be confirmed before launch.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SCALE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model can scale across departments and partners.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icture Placeholder 4"/>
          <p:cNvSpPr>
            <a:spLocks noGrp="1"/>
          </p:cNvSpPr>
          <p:nvPr>
            <p:ph type="pic" idx="2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icture Placeholder 5"/>
          <p:cNvSpPr>
            <a:spLocks noGrp="1"/>
          </p:cNvSpPr>
          <p:nvPr>
            <p:ph type="pic" idx="2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idx="2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idx="24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Picture Placeholder 8"/>
          <p:cNvSpPr>
            <a:spLocks noGrp="1"/>
          </p:cNvSpPr>
          <p:nvPr>
            <p:ph type="pic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Picture Placeholder 10"/>
          <p:cNvSpPr>
            <a:spLocks noGrp="1"/>
          </p:cNvSpPr>
          <p:nvPr>
            <p:ph type="pic" idx="27"/>
          </p:nvPr>
        </p:nvSpPr>
        <p:spPr/>
        <p:txBody>
          <a:bodyPr/>
          <a:lstStyle/>
          <a:p>
            <a:endParaRPr/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Logo placeholders are intentionally empty in this validation run.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PROOF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controlled pilot creates evidence for expansion.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Global manufacturing organisation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Teams had uneven adoption and limited visibility into where AI was helping.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The rollout focused on priority scenarios, role-based enablement and governance checks.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Pilot teams built repeatable usage patterns and clearer success measures.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r>
              <a:t>The pilot created an evidence base for scaling adoption.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Copilot became easier to adopt once teams could see which workflows it improved and how success would be measured.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Operations Leader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Pilot stakeholder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pilot investment is measured against adoption outcomes.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COMMERCIAL 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The validation deck uses sample commercial placeholders.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Pilot scope confirmed</a:t>
            </a:r>
          </a:p>
          <a:p>
            <a:r>
              <a:t>Success measures defined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Governance route agreed</a:t>
            </a:r>
          </a:p>
          <a:p>
            <a:r>
              <a:t>Expansion decision prepared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Pilot window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90 days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Validation period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Structured adoption pilot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Final pricing is not part of this validation deck.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t>Sample validation text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The generated deck should confirm that every supported exact-match archetype resolves, populates and saves cleanly.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validation package is ready for review.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Exact-match archetype coverage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>
          <a:xfrm>
            <a:off x="6580503" y="5276473"/>
            <a:ext cx="6910628" cy="461665"/>
          </a:xfrm>
        </p:spPr>
        <p:txBody>
          <a:bodyPr/>
          <a:lstStyle/>
          <a:p>
            <a:r>
              <a:rPr dirty="0"/>
              <a:t>Review output and approve</a:t>
            </a:r>
          </a:p>
          <a:p>
            <a:r>
              <a:rPr dirty="0"/>
              <a:t>next implementation phase.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 is visual QA and Carel review.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Open the generated PPTX and confirm no repair prompt.</a:t>
            </a:r>
          </a:p>
          <a:p>
            <a:r>
              <a:t>Confirm duplicate ZIP entries remain at zero.</a:t>
            </a:r>
          </a:p>
          <a:p>
            <a:r>
              <a:t>Review rendered slides for placeholder prompts and visual defects.</a:t>
            </a:r>
          </a:p>
          <a:p>
            <a:r>
              <a:t>Send the deck, contract and validation report for acceptance.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Mint Group · Contoso Manufacturing · AI-Ready Adoption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89958CF074346A27985477CC51872" ma:contentTypeVersion="4" ma:contentTypeDescription="Create a new document." ma:contentTypeScope="" ma:versionID="57892641fbdc032da29375bc784c4f05">
  <xsd:schema xmlns:xsd="http://www.w3.org/2001/XMLSchema" xmlns:xs="http://www.w3.org/2001/XMLSchema" xmlns:p="http://schemas.microsoft.com/office/2006/metadata/properties" xmlns:ns2="9c3b26fa-cc3a-429f-a46a-81d615281f0f" targetNamespace="http://schemas.microsoft.com/office/2006/metadata/properties" ma:root="true" ma:fieldsID="787d6bc71ddc1106aa2c1784c56e4614" ns2:_="">
    <xsd:import namespace="9c3b26fa-cc3a-429f-a46a-81d615281f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b26fa-cc3a-429f-a46a-81d615281f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SharedContentType xmlns="Microsoft.SharePoint.Taxonomy.ContentTypeSync" SourceId="36cbaa38-dbec-48d2-b0a0-1a8feb56de5f" ContentTypeId="0x0101" PreviousValue="false" LastSyncTimeStamp="2017-01-05T13:16:00.493Z"/>
</file>

<file path=customXml/itemProps1.xml><?xml version="1.0" encoding="utf-8"?>
<ds:datastoreItem xmlns:ds="http://schemas.openxmlformats.org/officeDocument/2006/customXml" ds:itemID="{01A006BB-8F47-4240-8544-628CF6010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3b26fa-cc3a-429f-a46a-81d615281f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774DB4-D8D6-4453-A776-0CF714ADBF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37AED0-A633-486C-8268-0FC8F3DF697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ec637fe-db01-4956-a356-f510891aaba9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26958046-65EA-48D1-9A3A-5E447D821A09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799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Lato</vt:lpstr>
      <vt:lpstr>Lato Light</vt:lpstr>
      <vt:lpstr>Corporate Deck</vt:lpstr>
      <vt:lpstr>AI-Ready Adoption Validation</vt:lpstr>
      <vt:lpstr>Exact-match validation is ready</vt:lpstr>
      <vt:lpstr>AI-ready work now depends on governed adoption.</vt:lpstr>
      <vt:lpstr>A phased adoption model reduces risk while building momentum.</vt:lpstr>
      <vt:lpstr>Three barriers slow practical Copilot adoption.</vt:lpstr>
      <vt:lpstr>The adoption journey needs clear ownership and focus.</vt:lpstr>
      <vt:lpstr>Governed rollout outperforms informal adoption.</vt:lpstr>
      <vt:lpstr>The pilot answers the questions leaders ask first.</vt:lpstr>
      <vt:lpstr>Four workstreams move users from awareness to daily usage.</vt:lpstr>
      <vt:lpstr>The pilot tracks adoption, value and governance evidence.</vt:lpstr>
      <vt:lpstr>Adoption maturity should increase across the pilot cycle.</vt:lpstr>
      <vt:lpstr>Four indicators show whether adoption is moving.</vt:lpstr>
      <vt:lpstr>Priority scenarios balance impact and readiness.</vt:lpstr>
      <vt:lpstr>A small delivery group keeps the pilot moving.</vt:lpstr>
      <vt:lpstr>Governance ownership stays visible throughout the pilot.</vt:lpstr>
      <vt:lpstr>The model can scale across departments and partners.</vt:lpstr>
      <vt:lpstr>A controlled pilot creates evidence for expansion.</vt:lpstr>
      <vt:lpstr>PowerPoint Presentation</vt:lpstr>
      <vt:lpstr>The pilot investment is measured against adoption outcomes.</vt:lpstr>
      <vt:lpstr>The validation package is ready for review.</vt:lpstr>
      <vt:lpstr>Next step is visual QA and Carel review.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Francine du Plooy</dc:creator>
  <cp:lastModifiedBy>Ndivhuwo Neswiswi</cp:lastModifiedBy>
  <cp:revision>1</cp:revision>
  <dcterms:created xsi:type="dcterms:W3CDTF">2026-07-22T08:01:08Z</dcterms:created>
  <dcterms:modified xsi:type="dcterms:W3CDTF">2026-08-06T13:29:13Z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0x01010036889958CF074346A27985477CC51872</vt:lpwstr>
  </property>
</Properties>
</file>